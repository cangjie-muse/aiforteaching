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2e426a34c64c4c" /><Relationship Type="http://schemas.openxmlformats.org/officeDocument/2006/relationships/extended-properties" Target="/docProps/app.xml" Id="R8ce2ff367d6845c7" /><Relationship Type="http://schemas.openxmlformats.org/officeDocument/2006/relationships/officeDocument" Target="/ppt/presentation.xml" Id="Rb31a4dfe44ad4f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e398cff00a4507"/>
  </p:sldMasterIdLst>
  <p:notesMasterIdLst>
    <p:notesMasterId xmlns:r="http://schemas.openxmlformats.org/officeDocument/2006/relationships" r:id="Rb6887e08e6a248ac"/>
  </p:notesMasterIdLst>
  <p:sldIdLst>
    <p:sldId xmlns:r="http://schemas.openxmlformats.org/officeDocument/2006/relationships" id="256" r:id="R7ca49b2ba4dc4981"/>
    <p:sldId xmlns:r="http://schemas.openxmlformats.org/officeDocument/2006/relationships" id="257" r:id="R13c097bb378648ab"/>
    <p:sldId xmlns:r="http://schemas.openxmlformats.org/officeDocument/2006/relationships" id="258" r:id="R0374cd49079946d6"/>
    <p:sldId xmlns:r="http://schemas.openxmlformats.org/officeDocument/2006/relationships" id="259" r:id="R33e4d9f266ff461e"/>
    <p:sldId xmlns:r="http://schemas.openxmlformats.org/officeDocument/2006/relationships" id="260" r:id="R1c6cda7df5ad435f"/>
    <p:sldId xmlns:r="http://schemas.openxmlformats.org/officeDocument/2006/relationships" id="261" r:id="R0a6d203880e54d78"/>
    <p:sldId xmlns:r="http://schemas.openxmlformats.org/officeDocument/2006/relationships" id="262" r:id="R3200c0b5c8c74a9f"/>
    <p:sldId xmlns:r="http://schemas.openxmlformats.org/officeDocument/2006/relationships" id="263" r:id="R8c74f8fa49244d49"/>
    <p:sldId xmlns:r="http://schemas.openxmlformats.org/officeDocument/2006/relationships" id="264" r:id="R094ee568f56d48b2"/>
    <p:sldId xmlns:r="http://schemas.openxmlformats.org/officeDocument/2006/relationships" id="265" r:id="R63e0fc680cc641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ecd3b454ce4fa7" /><Relationship Type="http://schemas.openxmlformats.org/officeDocument/2006/relationships/slideMaster" Target="/ppt/slideMasters/slideMaster1.xml" Id="R11e398cff00a4507" /><Relationship Type="http://schemas.openxmlformats.org/officeDocument/2006/relationships/notesMaster" Target="/ppt/notesMasters/notesMaster1.xml" Id="Rb6887e08e6a248ac" /><Relationship Type="http://schemas.openxmlformats.org/officeDocument/2006/relationships/presProps" Target="/ppt/presProps.xml" Id="Re48fd3d973394d39" /><Relationship Type="http://schemas.openxmlformats.org/officeDocument/2006/relationships/tableStyles" Target="/ppt/tableStyles.xml" Id="Rc2cf492b8d54499c" /><Relationship Type="http://schemas.openxmlformats.org/officeDocument/2006/relationships/slide" Target="/ppt/slides/slide1.xml" Id="R7ca49b2ba4dc4981" /><Relationship Type="http://schemas.openxmlformats.org/officeDocument/2006/relationships/slide" Target="/ppt/slides/slide2.xml" Id="R13c097bb378648ab" /><Relationship Type="http://schemas.openxmlformats.org/officeDocument/2006/relationships/slide" Target="/ppt/slides/slide3.xml" Id="R0374cd49079946d6" /><Relationship Type="http://schemas.openxmlformats.org/officeDocument/2006/relationships/slide" Target="/ppt/slides/slide4.xml" Id="R33e4d9f266ff461e" /><Relationship Type="http://schemas.openxmlformats.org/officeDocument/2006/relationships/slide" Target="/ppt/slides/slide5.xml" Id="R1c6cda7df5ad435f" /><Relationship Type="http://schemas.openxmlformats.org/officeDocument/2006/relationships/slide" Target="/ppt/slides/slide6.xml" Id="R0a6d203880e54d78" /><Relationship Type="http://schemas.openxmlformats.org/officeDocument/2006/relationships/slide" Target="/ppt/slides/slide7.xml" Id="R3200c0b5c8c74a9f" /><Relationship Type="http://schemas.openxmlformats.org/officeDocument/2006/relationships/slide" Target="/ppt/slides/slide8.xml" Id="R8c74f8fa49244d49" /><Relationship Type="http://schemas.openxmlformats.org/officeDocument/2006/relationships/slide" Target="/ppt/slides/slide9.xml" Id="R094ee568f56d48b2" /><Relationship Type="http://schemas.openxmlformats.org/officeDocument/2006/relationships/slide" Target="/ppt/slides/slide10.xml" Id="R63e0fc680cc641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a5a43e8fb7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a30f0c77434017" /><Relationship Type="http://schemas.openxmlformats.org/officeDocument/2006/relationships/notesMaster" Target="/ppt/notesMasters/notesMaster1.xml" Id="Rfe7deb0817b448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e1461a7f124e0a" /><Relationship Type="http://schemas.openxmlformats.org/officeDocument/2006/relationships/notesMaster" Target="/ppt/notesMasters/notesMaster1.xml" Id="R5be44fd650b445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8a80e89558431e" /><Relationship Type="http://schemas.openxmlformats.org/officeDocument/2006/relationships/notesMaster" Target="/ppt/notesMasters/notesMaster1.xml" Id="R5680433a05d546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6ddf57b6e7408c" /><Relationship Type="http://schemas.openxmlformats.org/officeDocument/2006/relationships/notesMaster" Target="/ppt/notesMasters/notesMaster1.xml" Id="R88373c769f0641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282a1501954a0e" /><Relationship Type="http://schemas.openxmlformats.org/officeDocument/2006/relationships/notesMaster" Target="/ppt/notesMasters/notesMaster1.xml" Id="Rd132a1483dc34a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95c86b80b94d7f" /><Relationship Type="http://schemas.openxmlformats.org/officeDocument/2006/relationships/notesMaster" Target="/ppt/notesMasters/notesMaster1.xml" Id="Raef2cd3fb83342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fd318882b14b95" /><Relationship Type="http://schemas.openxmlformats.org/officeDocument/2006/relationships/notesMaster" Target="/ppt/notesMasters/notesMaster1.xml" Id="Rf4999d52077846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b366898a87410e" /><Relationship Type="http://schemas.openxmlformats.org/officeDocument/2006/relationships/notesMaster" Target="/ppt/notesMasters/notesMaster1.xml" Id="R67951b5f919a43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7647b540434443" /><Relationship Type="http://schemas.openxmlformats.org/officeDocument/2006/relationships/notesMaster" Target="/ppt/notesMasters/notesMaster1.xml" Id="R0a3eb9d8546546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b6fe0cab5445c6" /><Relationship Type="http://schemas.openxmlformats.org/officeDocument/2006/relationships/notesMaster" Target="/ppt/notesMasters/notesMaster1.xml" Id="R7da5c2109c314c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课程内容来源：辛几何与数学物理课程资源包，知识点.md 第一章。封面摄影：Howchou / Wikimedia Commons / CC BY-SA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课程资源包：知识点.md#kp-ch01-relativity</a:t>
            </a:r>
          </a:p>
          <a:p xmlns:a="http://schemas.openxmlformats.org/drawingml/2006/main">
            <a:r>
              <a:t>课程资源包：知识点.md#kp-ch01-escape-velocity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课程资源包：知识点.md#kp-ch01-relativity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课程资源包：知识点.md#kp-ch01-galilean-structure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课程资源包：知识点.md#kp-ch01-kinematics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课程资源包：知识点.md#kp-ch01-newton-initial-value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课程资源包：知识点.md#kp-ch01-equivariance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课程资源包：知识点.md#kp-ch01-potential-models</a:t>
            </a:r>
          </a:p>
          <a:p xmlns:a="http://schemas.openxmlformats.org/drawingml/2006/main">
            <a:r>
              <a:t>课程资源包：知识点.md#kp-ch01-escape-velocity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课程资源包：习题.md 中 source-exercise:p012-1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课程资源包：习题.md 中 source-exercise:p012-1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d05d3dcb448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b7b0a2b9249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0b7b4880448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e6db00cc0d42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005b03f234f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98a67f76040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6C681F-F947-4376-9823-39365D76BE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CB872B-FD45-42C5-9434-E92101D3CE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41005D-AEDE-4876-AC4B-FA66FC681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E5EE8E-B78D-49A5-B064-17F8FCB90A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2B121B-1BD1-4F05-A46E-52D59DD6C3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B04CE6-FA5F-4152-AF36-46D27F521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BCE2F5-F2FD-449A-8836-C9DD524645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519132B-FBFF-4CF9-B3D3-3752298C93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23662F-67A6-4334-A239-05758F6ED8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45CE15-80E3-4507-BAF8-EF20B4CE32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b316e7fe9d4f3d" /><Relationship Type="http://schemas.openxmlformats.org/officeDocument/2006/relationships/slideLayout" Target="/ppt/slideLayouts/slideLayout1.xml" Id="R60682363aa904c1a" /><Relationship Type="http://schemas.openxmlformats.org/officeDocument/2006/relationships/slideLayout" Target="/ppt/slideLayouts/slideLayout2.xml" Id="Rf0a2c4838fda49b5" /><Relationship Type="http://schemas.openxmlformats.org/officeDocument/2006/relationships/slideLayout" Target="/ppt/slideLayouts/slideLayout3.xml" Id="R8e411fff0f514d8d" /><Relationship Type="http://schemas.openxmlformats.org/officeDocument/2006/relationships/slideLayout" Target="/ppt/slideLayouts/slideLayout4.xml" Id="R8bdd4ecda96c4343" /><Relationship Type="http://schemas.openxmlformats.org/officeDocument/2006/relationships/slideLayout" Target="/ppt/slideLayouts/slideLayout5.xml" Id="R70ce7b68a9364254" /><Relationship Type="http://schemas.openxmlformats.org/officeDocument/2006/relationships/slideLayout" Target="/ppt/slideLayouts/slideLayout6.xml" Id="R2ec5a086a7a543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682363aa904c1a"/>
    <p:sldLayoutId xmlns:r="http://schemas.openxmlformats.org/officeDocument/2006/relationships" id="2147483650" r:id="Rf0a2c4838fda49b5"/>
    <p:sldLayoutId xmlns:r="http://schemas.openxmlformats.org/officeDocument/2006/relationships" id="2147483651" r:id="R8e411fff0f514d8d"/>
    <p:sldLayoutId xmlns:r="http://schemas.openxmlformats.org/officeDocument/2006/relationships" id="2147483652" r:id="R8bdd4ecda96c4343"/>
    <p:sldLayoutId xmlns:r="http://schemas.openxmlformats.org/officeDocument/2006/relationships" id="2147483653" r:id="R70ce7b68a9364254"/>
    <p:sldLayoutId xmlns:r="http://schemas.openxmlformats.org/officeDocument/2006/relationships" id="2147483654" r:id="R2ec5a086a7a543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83be7c5744f90" /><Relationship Type="http://schemas.openxmlformats.org/officeDocument/2006/relationships/image" Target="/ppt/media/image.jpeg" Id="R481c8fb528104b81" /><Relationship Type="http://schemas.openxmlformats.org/officeDocument/2006/relationships/notesSlide" Target="/ppt/notesSlides/notesSlide1.xml" Id="R5e1baba003ef4e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fab917cf24746" /><Relationship Type="http://schemas.openxmlformats.org/officeDocument/2006/relationships/notesSlide" Target="/ppt/notesSlides/notesSlide2.xml" Id="R2950d52e7fab48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2984ae7874f22" /><Relationship Type="http://schemas.openxmlformats.org/officeDocument/2006/relationships/notesSlide" Target="/ppt/notesSlides/notesSlide3.xml" Id="Rab13a59e2cc74f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6dffa1eeb46ef" /><Relationship Type="http://schemas.openxmlformats.org/officeDocument/2006/relationships/notesSlide" Target="/ppt/notesSlides/notesSlide4.xml" Id="R6254a3ab0e0747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864feb5e34f5f" /><Relationship Type="http://schemas.openxmlformats.org/officeDocument/2006/relationships/notesSlide" Target="/ppt/notesSlides/notesSlide5.xml" Id="R8cc3f5ed32dd45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9eed739014788" /><Relationship Type="http://schemas.openxmlformats.org/officeDocument/2006/relationships/notesSlide" Target="/ppt/notesSlides/notesSlide6.xml" Id="R825343b7e14f49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33756ff61d41b2" /><Relationship Type="http://schemas.openxmlformats.org/officeDocument/2006/relationships/notesSlide" Target="/ppt/notesSlides/notesSlide7.xml" Id="Re132055f4f0e45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8b07f4da741ce" /><Relationship Type="http://schemas.openxmlformats.org/officeDocument/2006/relationships/notesSlide" Target="/ppt/notesSlides/notesSlide8.xml" Id="Rc234a21b20254a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e4b42675584eeb" /><Relationship Type="http://schemas.openxmlformats.org/officeDocument/2006/relationships/notesSlide" Target="/ppt/notesSlides/notesSlide9.xml" Id="R3a624440ee754e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c2b37aad943b1" /><Relationship Type="http://schemas.openxmlformats.org/officeDocument/2006/relationships/notesSlide" Target="/ppt/notesSlides/notesSlide10.xml" Id="Rbfaaabb8437b47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7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571212-E535-4FAC-9B9C-B0F5CBB2D3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c8fb528104b81"/>
          <a:srcRect xmlns:a="http://schemas.openxmlformats.org/drawingml/2006/main" l="26311" t="0" r="263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0"/>
            <a:ext cx="50292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87BE8-A0EF-418E-B656-6A1F938E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0">
                <a:solidFill>
                  <a:srgbClr val="D2E8FA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D2E8F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2E8FA"/>
                </a:solidFill>
                <a:latin typeface="PingFang SC"/>
                <a:ea typeface="PingFang SC"/>
                <a:cs typeface="PingFang SC"/>
              </a:rPr>
              <a:t>武汉大学 · 数学与统计学院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AC187-2B0E-48EB-89DE-C71DC902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04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第1章 实验事实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5B6AF-F4C6-4929-BF9F-5CB2A870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400" b="0">
                <a:solidFill>
                  <a:srgbClr val="D6EBF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6EBF5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6EBF5"/>
                </a:solidFill>
                <a:latin typeface="PingFang SC"/>
                <a:ea typeface="PingFang SC"/>
                <a:cs typeface="PingFang SC"/>
              </a:rPr>
              <a:t>辛几何与数学物理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E03B5-F800-4238-B058-45F19469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C7F1F-6991-4232-AF79-6499DC42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29300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C8DDE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DED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8DDED"/>
                </a:solidFill>
                <a:latin typeface="PingFang SC"/>
                <a:ea typeface="PingFang SC"/>
                <a:cs typeface="PingFang SC"/>
              </a:rPr>
              <a:t>武汉大学数学与统计学院 · 课程建设演示</a:t>
            </a:r>
          </a:p>
        </p:txBody>
      </p:sp>
    </p:spTree>
    <p:extLst>
      <p:ext uri="{BB962C8B-B14F-4D97-AF65-F5344CB8AC3E}">
        <p14:creationId xmlns:p14="http://schemas.microsoft.com/office/powerpoint/2010/main" val="1514891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A5BF0-7EB6-4E7A-A568-C78D21B6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7AE50-684A-4EC5-98D2-0FFA98B7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七个知识点的课堂主线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A7366-47A3-4102-9918-CB19A1B7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B4DF1-A6C3-409D-A3B5-459D8082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E2DFE-F313-4DE3-9EDD-2BFEDB54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物理前提：相对性、确定性。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9B677-10E7-4D1F-8359-B694B90C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41307-B68D-48B0-8AC8-FB804C42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时空与运动：Galilei 结构、轨迹和世界线。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A955B-3FD0-44BA-80F5-FB70A3FD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6FC42-0F20-4847-8219-9114B26F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动力学：初值问题、对称性、势能与逃逸。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D8EF9-635E-49CE-94C9-D232DBD8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V3  ·  02 / 10</a:t>
            </a:r>
          </a:p>
        </p:txBody>
      </p:sp>
    </p:spTree>
    <p:extLst>
      <p:ext uri="{BB962C8B-B14F-4D97-AF65-F5344CB8AC3E}">
        <p14:creationId xmlns:p14="http://schemas.microsoft.com/office/powerpoint/2010/main" val="19608488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4B020-B943-4BCC-B403-0DB10CB0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01E9A-DCFC-4CE8-AB2B-2940406E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相对性与确定性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752A9-F1A7-4A63-AC6A-E2167B96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B96D1-8B6C-450B-8EE9-65563AB5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79A5C-7ABD-47E4-8D4D-A50B991A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惯性系之间的匀速相对运动不改变定律形式。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26283-ABE8-4AFB-92AB-3C862DBD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4C1C2-D927-43A5-816B-5E4283E6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状态由位置与速度给出，运动方程把初值推进到后续时刻。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78277-B175-457A-9E76-C59241FD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66FF1-06F7-4C29-86AF-931F60DA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这些是模型前提；数学分析还要检查方程的适用条件。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31214-F92C-4ED5-8AA1-D18160EE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V3  ·  03 / 10</a:t>
            </a:r>
          </a:p>
        </p:txBody>
      </p:sp>
    </p:spTree>
    <p:extLst>
      <p:ext uri="{BB962C8B-B14F-4D97-AF65-F5344CB8AC3E}">
        <p14:creationId xmlns:p14="http://schemas.microsoft.com/office/powerpoint/2010/main" val="20920677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B6F3E-6618-41EB-9666-BD8623BF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1D4D9-4CDF-48F4-8DC4-C3011DC4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Galilei 变换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08697-63D9-426F-A168-CAF7C8A9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128D1-D109-4080-A5DD-536DEB84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15525-819F-4A81-BC25-C4930ECC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保持时间间隔与同时事件的空间距离。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7D7E1-EEF9-48EE-9436-0CD43117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CCA42-B6BD-4973-AC68-177B2327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R∈O(3)；v 是相对惯性系的匀速运动参数。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B93ECB-2CB2-4E38-BCA1-6C91CB28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3A2CF-500D-4F40-9D76-C01971CF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t′ = t + s    x′ = Rx + vt +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31731-B034-4573-BF5D-8FFC21C0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V3  ·  04 / 10</a:t>
            </a:r>
          </a:p>
        </p:txBody>
      </p:sp>
    </p:spTree>
    <p:extLst>
      <p:ext uri="{BB962C8B-B14F-4D97-AF65-F5344CB8AC3E}">
        <p14:creationId xmlns:p14="http://schemas.microsoft.com/office/powerpoint/2010/main" val="252829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EDC0F-ADCD-48B6-962F-86DE55BA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E0DF7-0E4F-44D7-9D14-123F1F6D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运动的两种几何对象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E9EA1-F371-4E01-A494-1825802F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041CD-2FA2-4239-B851-5B918877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6E515-1DB2-4865-8261-01793261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轨迹：空间中的点集 x(I)。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2BBD5-B181-4C69-BEE8-9F993EFE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5A566-0011-44AA-B5C9-7E4DC0ED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世界线：时空中的图像 (t, x(t))。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E4DD8-6887-48DF-A9E8-83212F93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02CA3-08F2-46C8-928D-6BA3C947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同一轨迹可以对应不同的时间参数化。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4E1B9-EBD9-4687-94D0-C8E7B2F9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V3  ·  05 / 10</a:t>
            </a:r>
          </a:p>
        </p:txBody>
      </p:sp>
    </p:spTree>
    <p:extLst>
      <p:ext uri="{BB962C8B-B14F-4D97-AF65-F5344CB8AC3E}">
        <p14:creationId xmlns:p14="http://schemas.microsoft.com/office/powerpoint/2010/main" val="1010938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4C8AA-7EAC-4975-85E1-A78FBD32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F8C51-5B70-408B-AC46-206B500C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Newton 初值问题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0AC29-586C-49E6-9011-551A8655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B418B-CEC8-4983-9205-40448CBB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3B6AF-3DEE-4EFD-8310-EEE0E79E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构形只记录位置，状态还包括速度。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13FAC-A354-482C-AE88-B4B78A3E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C1BAD-C22A-40E6-8CB5-402592F4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局部 Lipschitz 等条件保证局部唯一解。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6FAC5-17B0-4C8F-94C3-E39CA79C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CEA12-3F5B-4C4D-963A-DAC188B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不能由局部唯一性直接推出全时间存在。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E90F8-EAE0-4087-9C39-BA3B3F9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9C423-A705-4286-A0A9-BDE38CD0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ẋ = v    v̇ = F(x, v, 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0C961-3209-4534-9753-0E4E458C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V3  ·  06 / 10</a:t>
            </a:r>
          </a:p>
        </p:txBody>
      </p:sp>
    </p:spTree>
    <p:extLst>
      <p:ext uri="{BB962C8B-B14F-4D97-AF65-F5344CB8AC3E}">
        <p14:creationId xmlns:p14="http://schemas.microsoft.com/office/powerpoint/2010/main" val="18363288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21CDB3-D30A-48D3-9F6F-2A665259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1CFD0-8197-47BE-9DDB-704F056F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对称性如何限制方程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DAA92-ABC3-48F4-A8D6-06D36807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D7688-48F4-46D0-A41D-76BC4ACC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D44A2-0F86-4C42-953A-4D03DF00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封闭系统的平移和匀速运动不变性，限制力对绝对时间、位置和速度的依赖。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8BAB0-FA36-4D2F-BC7D-2B62B0E1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5BDA7-1DA9-4EC9-B3B9-18B1C8F2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正交变换不变性要求力随坐标旋转或反射等变。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F025D-14B7-431D-AD35-6AB9EB14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V3  ·  07 / 10</a:t>
            </a:r>
          </a:p>
        </p:txBody>
      </p:sp>
    </p:spTree>
    <p:extLst>
      <p:ext uri="{BB962C8B-B14F-4D97-AF65-F5344CB8AC3E}">
        <p14:creationId xmlns:p14="http://schemas.microsoft.com/office/powerpoint/2010/main" val="901586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831F8-D6DD-4F99-9C82-F4313DDF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20B0D-FCF3-4CE9-B371-F5912F86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势能与逃逸速度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09D52-2428-48EC-B4FA-82E74BA0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8B502-4B8B-46D6-8461-35CDC9C2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45371-EAF8-48C5-BED0-584F0BA6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保守力由势能梯度给出。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32999-B8CF-4CF1-BB1D-1CAAF9FC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28F3C-5AB7-4555-8515-BA0D72A3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逆平方引力：U(r)=−gr₀²/r。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04B34-B498-448A-B87A-1FDF8D3F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E5FAF-2331-462E-B009-FE00D023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临界条件：E=½v₀²−gr₀=0。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EDA1E-A89A-4243-8BFF-44917170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E8B6B-11AF-4132-9E39-DF51421E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vₑₛc = √(2gr₀)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DAB36-A608-4877-88AD-CA882174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V3  ·  08 / 10</a:t>
            </a:r>
          </a:p>
        </p:txBody>
      </p:sp>
    </p:spTree>
    <p:extLst>
      <p:ext uri="{BB962C8B-B14F-4D97-AF65-F5344CB8AC3E}">
        <p14:creationId xmlns:p14="http://schemas.microsoft.com/office/powerpoint/2010/main" val="19925159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A9256-9B8F-4B34-B52B-AA4CF3AC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8EC76-6932-41BB-A437-609A978D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课堂练习：逃逸速度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1DE23-0C10-4564-83BE-2369F553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A0BE4-93F1-4A71-9A96-014BD5CE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E8D03-5E27-45FF-B2A3-818FE908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从地球表面沿径向抛出石块。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312D3-322E-4778-B743-6B719AB4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F6E18-5EAA-4457-A928-6BBC215B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忽略空气阻力、地球自转及其他天体引力。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49019-C4BE-4984-B58C-8E6D1547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D80B9-66D9-441E-B70C-3EC87C84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用能量守恒求最小初速度，并说明等号的物理意义。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0DBE0-10D2-4606-91FB-42970D61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3D6BB-F69B-44E6-8D7D-1A66F121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r̈ = −gr₀²/r²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6C0B3-357B-4BAA-8184-A290D260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V3  ·  09 / 10</a:t>
            </a:r>
          </a:p>
        </p:txBody>
      </p:sp>
    </p:spTree>
    <p:extLst>
      <p:ext uri="{BB962C8B-B14F-4D97-AF65-F5344CB8AC3E}">
        <p14:creationId xmlns:p14="http://schemas.microsoft.com/office/powerpoint/2010/main" val="17418268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58C71-84E9-46E5-B9DC-13639804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辛几何与数学物理  /  第1章 实验事实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A97F5-7ED7-42E3-9A11-71F0A79B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04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73766"/>
                </a:solidFill>
                <a:latin typeface="PingFang SC"/>
                <a:ea typeface="PingFang SC"/>
                <a:cs typeface="PingFang SC"/>
              </a:rPr>
              <a:t>练习解答与模型检查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ADF4E-B367-42CD-874D-C4C71766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46232-F9D3-4457-82F9-E74FD5EC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7B0BD-C0D3-4359-970A-14615F80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单位质量总能量：E=½ṙ²−gr₀²/r。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25BE1-0871-47CD-9813-634C5571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2C919-C402-4D17-91CA-CA625DF9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到任意远处需要 E≥0，因此 v₀²≥2gr₀。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2F7C6-E2B8-4E3E-919C-687034A8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D8B8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D2C1F-AB1E-4F46-B22B-A0C844FD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52900"/>
            <a:ext cx="99536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23653"/>
                </a:solidFill>
                <a:latin typeface="PingFang SC"/>
                <a:ea typeface="PingFang SC"/>
                <a:cs typeface="PingFang SC"/>
              </a:rPr>
              <a:t>等号对应 r→∞ 时速度趋于零，不代表逃出太阳系。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81B1A-05FA-48DB-91F1-6FA13504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387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BB45D-B383-458A-B97F-20EA2B92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81625"/>
            <a:ext cx="995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54A0"/>
                </a:solidFill>
                <a:latin typeface="PingFang SC"/>
                <a:ea typeface="PingFang SC"/>
                <a:cs typeface="PingFang SC"/>
              </a:rPr>
              <a:t>v₀ ≥ √(2gr₀)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DE5C5-B42B-498E-9723-5436AB42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372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D7F97"/>
                </a:solidFill>
                <a:latin typeface="PingFang SC"/>
                <a:ea typeface="PingFang SC"/>
                <a:cs typeface="PingFang SC"/>
              </a:rPr>
              <a:t>V3  ·  10 / 10</a:t>
            </a:r>
          </a:p>
        </p:txBody>
      </p:sp>
    </p:spTree>
    <p:extLst>
      <p:ext uri="{BB962C8B-B14F-4D97-AF65-F5344CB8AC3E}">
        <p14:creationId xmlns:p14="http://schemas.microsoft.com/office/powerpoint/2010/main" val="2072266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2026-10-11T08:28:00.9390000Z</dcterms:created>
  <dcterms:modified xsi:type="dcterms:W3CDTF">2026-10-11T08:28:00.9390000Z</dcterms:modified>
</coreProperties>
</file>