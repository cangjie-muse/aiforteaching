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90023f76e945f0" /><Relationship Type="http://schemas.openxmlformats.org/officeDocument/2006/relationships/extended-properties" Target="/docProps/app.xml" Id="R40eb829ac0834f21" /><Relationship Type="http://schemas.openxmlformats.org/officeDocument/2006/relationships/officeDocument" Target="/ppt/presentation.xml" Id="R7a1f54c873d34d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4572ae0bac4cb1"/>
  </p:sldMasterIdLst>
  <p:notesMasterIdLst>
    <p:notesMasterId xmlns:r="http://schemas.openxmlformats.org/officeDocument/2006/relationships" r:id="R6ed609c1a69940e3"/>
  </p:notesMasterIdLst>
  <p:sldIdLst>
    <p:sldId xmlns:r="http://schemas.openxmlformats.org/officeDocument/2006/relationships" id="256" r:id="R225dfc8a4efd4d1b"/>
    <p:sldId xmlns:r="http://schemas.openxmlformats.org/officeDocument/2006/relationships" id="257" r:id="Rf45fa05840df49db"/>
    <p:sldId xmlns:r="http://schemas.openxmlformats.org/officeDocument/2006/relationships" id="258" r:id="Rc2b529cddb4f45e0"/>
    <p:sldId xmlns:r="http://schemas.openxmlformats.org/officeDocument/2006/relationships" id="259" r:id="R9af300d8d4fd4595"/>
    <p:sldId xmlns:r="http://schemas.openxmlformats.org/officeDocument/2006/relationships" id="260" r:id="R25ee7412a49b40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d39e0dfe984b55" /><Relationship Type="http://schemas.openxmlformats.org/officeDocument/2006/relationships/slideMaster" Target="/ppt/slideMasters/slideMaster1.xml" Id="R044572ae0bac4cb1" /><Relationship Type="http://schemas.openxmlformats.org/officeDocument/2006/relationships/notesMaster" Target="/ppt/notesMasters/notesMaster1.xml" Id="R6ed609c1a69940e3" /><Relationship Type="http://schemas.openxmlformats.org/officeDocument/2006/relationships/presProps" Target="/ppt/presProps.xml" Id="Ra6684b6f678643d2" /><Relationship Type="http://schemas.openxmlformats.org/officeDocument/2006/relationships/tableStyles" Target="/ppt/tableStyles.xml" Id="Rcc0c66f45f8143d3" /><Relationship Type="http://schemas.openxmlformats.org/officeDocument/2006/relationships/slide" Target="/ppt/slides/slide1.xml" Id="R225dfc8a4efd4d1b" /><Relationship Type="http://schemas.openxmlformats.org/officeDocument/2006/relationships/slide" Target="/ppt/slides/slide2.xml" Id="Rf45fa05840df49db" /><Relationship Type="http://schemas.openxmlformats.org/officeDocument/2006/relationships/slide" Target="/ppt/slides/slide3.xml" Id="Rc2b529cddb4f45e0" /><Relationship Type="http://schemas.openxmlformats.org/officeDocument/2006/relationships/slide" Target="/ppt/slides/slide4.xml" Id="R9af300d8d4fd4595" /><Relationship Type="http://schemas.openxmlformats.org/officeDocument/2006/relationships/slide" Target="/ppt/slides/slide5.xml" Id="R25ee7412a49b40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b838cc9dd948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c842eac6b64a4a" /><Relationship Type="http://schemas.openxmlformats.org/officeDocument/2006/relationships/notesMaster" Target="/ppt/notesMasters/notesMaster1.xml" Id="R007dc601d88e46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2b7a71d94b4acc" /><Relationship Type="http://schemas.openxmlformats.org/officeDocument/2006/relationships/notesMaster" Target="/ppt/notesMasters/notesMaster1.xml" Id="R98b591d43d7545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27a81810a544f0" /><Relationship Type="http://schemas.openxmlformats.org/officeDocument/2006/relationships/notesMaster" Target="/ppt/notesMasters/notesMaster1.xml" Id="Re9e227052f364f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2db787663b4706" /><Relationship Type="http://schemas.openxmlformats.org/officeDocument/2006/relationships/notesMaster" Target="/ppt/notesMasters/notesMaster1.xml" Id="Rc48245312a904c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710afe4e9c4fb0" /><Relationship Type="http://schemas.openxmlformats.org/officeDocument/2006/relationships/notesMaster" Target="/ppt/notesMasters/notesMaster1.xml" Id="R116a941594fa4f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课程内容来源：辛几何与数学物理课程资源包，知识点.md 第一章。封面摄影：Howchou / Wikimedia Commons / CC BY-SA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课程资源包：知识点.md#kp-ch01-relativity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课程资源包：知识点.md#kp-ch01-galilean-structure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课程资源包：知识点.md#kp-ch01-newton-initial-value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课程资源包：知识点.md#kp-ch01-escape-velocity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54d10fa080421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66b2ed830c4f9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c984c7c3dd48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d7909bf1bd44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2742f0a06346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b5f6b1774647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4F9CA4-02CA-4282-8421-D255BEBD0A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957ACE5-02DA-4A3A-82C7-6965DE4913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5A700D-1732-457D-97F1-BD80C21F78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06EED4-E0C9-43A9-9ADA-4A0F92F7B0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724232A-D72B-49D7-8766-C2575A0F31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7DDA1F7-3707-4D05-864D-B8E9D47025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D1680D-3DA8-4CB1-8217-E04EB567B6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E99CEC6-FB49-4B5F-987E-5D26011C16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73B357-0B48-4C31-83B0-B5B9B7218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DBD71D-D88C-4BDD-9244-8DCC20022D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dbb0ee6d5548b3" /><Relationship Type="http://schemas.openxmlformats.org/officeDocument/2006/relationships/slideLayout" Target="/ppt/slideLayouts/slideLayout1.xml" Id="R87288f21f9364b67" /><Relationship Type="http://schemas.openxmlformats.org/officeDocument/2006/relationships/slideLayout" Target="/ppt/slideLayouts/slideLayout2.xml" Id="R372b69e2ff77431e" /><Relationship Type="http://schemas.openxmlformats.org/officeDocument/2006/relationships/slideLayout" Target="/ppt/slideLayouts/slideLayout3.xml" Id="R218860eb631644d4" /><Relationship Type="http://schemas.openxmlformats.org/officeDocument/2006/relationships/slideLayout" Target="/ppt/slideLayouts/slideLayout4.xml" Id="Rcf57f19e9e8c4098" /><Relationship Type="http://schemas.openxmlformats.org/officeDocument/2006/relationships/slideLayout" Target="/ppt/slideLayouts/slideLayout5.xml" Id="Re2f73eca1b55441b" /><Relationship Type="http://schemas.openxmlformats.org/officeDocument/2006/relationships/slideLayout" Target="/ppt/slideLayouts/slideLayout6.xml" Id="R462881e2899e4a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288f21f9364b67"/>
    <p:sldLayoutId xmlns:r="http://schemas.openxmlformats.org/officeDocument/2006/relationships" id="2147483650" r:id="R372b69e2ff77431e"/>
    <p:sldLayoutId xmlns:r="http://schemas.openxmlformats.org/officeDocument/2006/relationships" id="2147483651" r:id="R218860eb631644d4"/>
    <p:sldLayoutId xmlns:r="http://schemas.openxmlformats.org/officeDocument/2006/relationships" id="2147483652" r:id="Rcf57f19e9e8c4098"/>
    <p:sldLayoutId xmlns:r="http://schemas.openxmlformats.org/officeDocument/2006/relationships" id="2147483653" r:id="Re2f73eca1b55441b"/>
    <p:sldLayoutId xmlns:r="http://schemas.openxmlformats.org/officeDocument/2006/relationships" id="2147483654" r:id="R462881e2899e4a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348de1027f41e1" /><Relationship Type="http://schemas.openxmlformats.org/officeDocument/2006/relationships/image" Target="/ppt/media/image.jpeg" Id="Rdb052b24127d4c24" /><Relationship Type="http://schemas.openxmlformats.org/officeDocument/2006/relationships/notesSlide" Target="/ppt/notesSlides/notesSlide1.xml" Id="R82317fdaa3264e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13f6e716724b21" /><Relationship Type="http://schemas.openxmlformats.org/officeDocument/2006/relationships/notesSlide" Target="/ppt/notesSlides/notesSlide2.xml" Id="Rc69f446fe02a42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08d9a74e7e499b" /><Relationship Type="http://schemas.openxmlformats.org/officeDocument/2006/relationships/notesSlide" Target="/ppt/notesSlides/notesSlide3.xml" Id="Rbf6d54b3ba5345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f52b25d4ea402c" /><Relationship Type="http://schemas.openxmlformats.org/officeDocument/2006/relationships/notesSlide" Target="/ppt/notesSlides/notesSlide4.xml" Id="R300fe4bb26824e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6297f9e07445d7" /><Relationship Type="http://schemas.openxmlformats.org/officeDocument/2006/relationships/notesSlide" Target="/ppt/notesSlides/notesSlide5.xml" Id="Rfdb2ae45127241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7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2CFDB-58D3-422C-98D5-2458005006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52b24127d4c24"/>
          <a:srcRect xmlns:a="http://schemas.openxmlformats.org/drawingml/2006/main" l="26311" t="0" r="263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2800" y="0"/>
            <a:ext cx="50292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E4945-7012-4C66-B464-6ABF7E6F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D2E8F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D2E8F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2E8FA"/>
                </a:solidFill>
                <a:latin typeface="PingFang SC"/>
                <a:ea typeface="PingFang SC"/>
                <a:cs typeface="PingFang SC"/>
              </a:rPr>
              <a:t>武汉大学 · 数学与统计学院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377FE-2D1A-4D4C-B9C7-44C561D1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04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第1章 实验事实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35917-88FE-4B87-8F77-891B5CCC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00" b="0">
                <a:solidFill>
                  <a:srgbClr val="D6EBF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D6EBF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D6EBF5"/>
                </a:solidFill>
                <a:latin typeface="PingFang SC"/>
                <a:ea typeface="PingFang SC"/>
                <a:cs typeface="PingFang SC"/>
              </a:rPr>
              <a:t>辛几何与数学物理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AA827-EB49-4C63-ACAE-0AAFA90A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195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A9AA8-C894-4EBD-8AEC-2A2A85C3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29300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C8DDE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8DDE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8DDED"/>
                </a:solidFill>
                <a:latin typeface="PingFang SC"/>
                <a:ea typeface="PingFang SC"/>
                <a:cs typeface="PingFang SC"/>
              </a:rPr>
              <a:t>武汉大学数学与统计学院 · 课程建设演示</a:t>
            </a:r>
          </a:p>
        </p:txBody>
      </p:sp>
    </p:spTree>
    <p:extLst>
      <p:ext uri="{BB962C8B-B14F-4D97-AF65-F5344CB8AC3E}">
        <p14:creationId xmlns:p14="http://schemas.microsoft.com/office/powerpoint/2010/main" val="7114848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39F31-B5B9-4208-8E79-B6A09680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117CE-8F12-43B3-963E-F7CD3B29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两条物理前提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F84FD-6507-40DF-89EF-06F492FE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D1AAC-502D-4C2D-AA0D-5D4186E6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099C7-43F4-4677-83E7-AC31AD1B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相对性：存在一族惯性系，物理定律在其中同形。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8C3F9-83A3-46EB-838F-9D04B10B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419EE-1835-479A-8D65-85F8759C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确定性：位置与速度的初值决定后续运动。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601E0-57DB-4481-9A88-0AEBADFF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D01C1-E905-4B68-8AB3-4E39FC8C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二者是经典力学的建模前提，不是数学定理。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932B7-8B1F-40EB-94E2-A4A30611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V1  ·  02 / 05</a:t>
            </a:r>
          </a:p>
        </p:txBody>
      </p:sp>
    </p:spTree>
    <p:extLst>
      <p:ext uri="{BB962C8B-B14F-4D97-AF65-F5344CB8AC3E}">
        <p14:creationId xmlns:p14="http://schemas.microsoft.com/office/powerpoint/2010/main" val="14519653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53098-254E-4EE9-A609-0BAB2CBF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D2E48-53E0-4079-BB1A-3F1AB764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Galilei 变换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E1A43-7655-4C34-A957-8136CC05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8B2D9-3C72-4142-A2F4-424F62B9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16181-EF7F-4B9C-BAF8-01ABE5B2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时间只作平移；空间允许正交变换、平移和匀速运动。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0BAF1-B7BA-4CA3-AB77-D8664F90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452B3-97CD-41D6-835E-8D9F46AF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R ∈ O(3)，因此也包括空间反射。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E6184-571A-4935-8D04-29CC2FD6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B0967-5579-4F0B-8A3B-8808B31A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95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2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t′ = t + s    x′ = Rx + vt +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89810-AE94-4934-BD88-5AFA41C4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V1  ·  03 / 05</a:t>
            </a:r>
          </a:p>
        </p:txBody>
      </p:sp>
    </p:spTree>
    <p:extLst>
      <p:ext uri="{BB962C8B-B14F-4D97-AF65-F5344CB8AC3E}">
        <p14:creationId xmlns:p14="http://schemas.microsoft.com/office/powerpoint/2010/main" val="15492488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1E64C-8E4B-4466-A66F-7A31A3CF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6360E-4415-4DB0-AD4C-977D770F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Newton 初值问题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EC700-EB45-4751-B359-5297115D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98094-C3D1-4648-9263-60055B34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58584-3E58-4435-AF32-DAA77039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n 个无约束质点的构形空间是 (ℝ³)ⁿ。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B2CDC-CAC2-40A4-B650-C277EDC0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14A86-BF18-469A-B58D-6C19C646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状态包括位置与速度；给定初值后求解运动。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B4072-F4D6-4E61-93F6-74C26A10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63538-4A4B-43B0-AAC5-D2534A7E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95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ẍ = F(x, ẋ, t)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09764-ED16-4E72-B8E4-1DC4ADB5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V1  ·  04 / 05</a:t>
            </a:r>
          </a:p>
        </p:txBody>
      </p:sp>
    </p:spTree>
    <p:extLst>
      <p:ext uri="{BB962C8B-B14F-4D97-AF65-F5344CB8AC3E}">
        <p14:creationId xmlns:p14="http://schemas.microsoft.com/office/powerpoint/2010/main" val="162928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3CAB79-76DB-43CD-863F-4E00A3FC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A8639-2EE1-4CFA-A7D6-89DB17D9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逃逸速度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A1A65-2241-431B-84B2-74CF0A8E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3F3CB-462B-43C5-B3C5-A59F92EA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B90EE-E8D4-4542-A80D-3786E23B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逆平方引力势能：U(r) = −k/r。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02742-3B7C-4344-A44E-ABE740BC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91610-E1EF-4F45-AB56-45314186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总能量非负，是到达任意远处的临界条件。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6BDDC-777D-4540-A505-4033C088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6444B-1F88-44C4-BA93-EBEDEEF0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95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vₑₛc = √(2gr₀)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B1209-045B-4386-8718-21097036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V1  ·  05 / 05</a:t>
            </a:r>
          </a:p>
        </p:txBody>
      </p:sp>
    </p:spTree>
    <p:extLst>
      <p:ext uri="{BB962C8B-B14F-4D97-AF65-F5344CB8AC3E}">
        <p14:creationId xmlns:p14="http://schemas.microsoft.com/office/powerpoint/2010/main" val="7464742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2026-10-11T08:27:56.9540000Z</dcterms:created>
  <dcterms:modified xsi:type="dcterms:W3CDTF">2026-10-11T08:27:56.9540000Z</dcterms:modified>
</coreProperties>
</file>