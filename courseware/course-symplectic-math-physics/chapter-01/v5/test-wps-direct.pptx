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632986501c4290" /><Relationship Type="http://schemas.openxmlformats.org/officeDocument/2006/relationships/extended-properties" Target="/docProps/app.xml" Id="R6059c3b8995e40e1" /><Relationship Type="http://schemas.openxmlformats.org/officeDocument/2006/relationships/officeDocument" Target="/ppt/presentation.xml" Id="R6f86c6a143c541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4b7b359b15433c"/>
  </p:sldMasterIdLst>
  <p:notesMasterIdLst>
    <p:notesMasterId xmlns:r="http://schemas.openxmlformats.org/officeDocument/2006/relationships" r:id="Rbd2d1311ad7c487c"/>
  </p:notesMasterIdLst>
  <p:sldIdLst>
    <p:sldId xmlns:r="http://schemas.openxmlformats.org/officeDocument/2006/relationships" id="256" r:id="Rc8cb365c1bc44763"/>
    <p:sldId xmlns:r="http://schemas.openxmlformats.org/officeDocument/2006/relationships" id="257" r:id="R61df55f71e6743c5"/>
    <p:sldId xmlns:r="http://schemas.openxmlformats.org/officeDocument/2006/relationships" id="258" r:id="R650f164735304977"/>
    <p:sldId xmlns:r="http://schemas.openxmlformats.org/officeDocument/2006/relationships" id="259" r:id="R7f7bf96c25664565"/>
    <p:sldId xmlns:r="http://schemas.openxmlformats.org/officeDocument/2006/relationships" id="260" r:id="R73005a1ff19d4f72"/>
    <p:sldId xmlns:r="http://schemas.openxmlformats.org/officeDocument/2006/relationships" id="261" r:id="R39c2a6da7d2c43e4"/>
    <p:sldId xmlns:r="http://schemas.openxmlformats.org/officeDocument/2006/relationships" id="262" r:id="Rff6a5f999aa7418c"/>
    <p:sldId xmlns:r="http://schemas.openxmlformats.org/officeDocument/2006/relationships" id="263" r:id="Rb51d8fdc421548c6"/>
    <p:sldId xmlns:r="http://schemas.openxmlformats.org/officeDocument/2006/relationships" id="264" r:id="Rd3810b3be28045b2"/>
    <p:sldId xmlns:r="http://schemas.openxmlformats.org/officeDocument/2006/relationships" id="265" r:id="Reb356ce74d9542fe"/>
    <p:sldId xmlns:r="http://schemas.openxmlformats.org/officeDocument/2006/relationships" id="266" r:id="R188fa654a158420e"/>
    <p:sldId xmlns:r="http://schemas.openxmlformats.org/officeDocument/2006/relationships" id="267" r:id="R2c482beca0b648dd"/>
    <p:sldId xmlns:r="http://schemas.openxmlformats.org/officeDocument/2006/relationships" id="268" r:id="R0bd5447265e84645"/>
    <p:sldId xmlns:r="http://schemas.openxmlformats.org/officeDocument/2006/relationships" id="269" r:id="R355ad377bb444d6d"/>
    <p:sldId xmlns:r="http://schemas.openxmlformats.org/officeDocument/2006/relationships" id="270" r:id="Rf267d64278ae4de2"/>
    <p:sldId xmlns:r="http://schemas.openxmlformats.org/officeDocument/2006/relationships" id="271" r:id="R4e746184c5c543eb"/>
    <p:sldId xmlns:r="http://schemas.openxmlformats.org/officeDocument/2006/relationships" id="272" r:id="R34f4fd49e68643eb"/>
    <p:sldId xmlns:r="http://schemas.openxmlformats.org/officeDocument/2006/relationships" id="273" r:id="Rf49420fc761e47e6"/>
    <p:sldId xmlns:r="http://schemas.openxmlformats.org/officeDocument/2006/relationships" id="274" r:id="R83103d78841d4c0d"/>
    <p:sldId xmlns:r="http://schemas.openxmlformats.org/officeDocument/2006/relationships" id="275" r:id="Rc8e02f74e3814d1b"/>
    <p:sldId xmlns:r="http://schemas.openxmlformats.org/officeDocument/2006/relationships" id="276" r:id="R03183f4c1663471c"/>
    <p:sldId xmlns:r="http://schemas.openxmlformats.org/officeDocument/2006/relationships" id="277" r:id="R06f23de00cfb4f70"/>
    <p:sldId xmlns:r="http://schemas.openxmlformats.org/officeDocument/2006/relationships" id="278" r:id="Rbedcccacb4f64943"/>
    <p:sldId xmlns:r="http://schemas.openxmlformats.org/officeDocument/2006/relationships" id="279" r:id="Re1889e84a83d43d4"/>
    <p:sldId xmlns:r="http://schemas.openxmlformats.org/officeDocument/2006/relationships" id="280" r:id="R2f9338df1843474c"/>
    <p:sldId xmlns:r="http://schemas.openxmlformats.org/officeDocument/2006/relationships" id="281" r:id="Rc0bab305793f4c59"/>
    <p:sldId xmlns:r="http://schemas.openxmlformats.org/officeDocument/2006/relationships" id="282" r:id="Rbe4b027960864f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2ea60ef20e4443" /><Relationship Type="http://schemas.openxmlformats.org/officeDocument/2006/relationships/slideMaster" Target="/ppt/slideMasters/slideMaster1.xml" Id="Rdb4b7b359b15433c" /><Relationship Type="http://schemas.openxmlformats.org/officeDocument/2006/relationships/notesMaster" Target="/ppt/notesMasters/notesMaster1.xml" Id="Rbd2d1311ad7c487c" /><Relationship Type="http://schemas.openxmlformats.org/officeDocument/2006/relationships/presProps" Target="/ppt/presProps.xml" Id="Rba41f47e7ea54d40" /><Relationship Type="http://schemas.openxmlformats.org/officeDocument/2006/relationships/tableStyles" Target="/ppt/tableStyles.xml" Id="R8d222163d5674ec7" /><Relationship Type="http://schemas.openxmlformats.org/officeDocument/2006/relationships/slide" Target="/ppt/slides/slide1.xml" Id="Rc8cb365c1bc44763" /><Relationship Type="http://schemas.openxmlformats.org/officeDocument/2006/relationships/slide" Target="/ppt/slides/slide2.xml" Id="R61df55f71e6743c5" /><Relationship Type="http://schemas.openxmlformats.org/officeDocument/2006/relationships/slide" Target="/ppt/slides/slide3.xml" Id="R650f164735304977" /><Relationship Type="http://schemas.openxmlformats.org/officeDocument/2006/relationships/slide" Target="/ppt/slides/slide4.xml" Id="R7f7bf96c25664565" /><Relationship Type="http://schemas.openxmlformats.org/officeDocument/2006/relationships/slide" Target="/ppt/slides/slide5.xml" Id="R73005a1ff19d4f72" /><Relationship Type="http://schemas.openxmlformats.org/officeDocument/2006/relationships/slide" Target="/ppt/slides/slide6.xml" Id="R39c2a6da7d2c43e4" /><Relationship Type="http://schemas.openxmlformats.org/officeDocument/2006/relationships/slide" Target="/ppt/slides/slide7.xml" Id="Rff6a5f999aa7418c" /><Relationship Type="http://schemas.openxmlformats.org/officeDocument/2006/relationships/slide" Target="/ppt/slides/slide8.xml" Id="Rb51d8fdc421548c6" /><Relationship Type="http://schemas.openxmlformats.org/officeDocument/2006/relationships/slide" Target="/ppt/slides/slide9.xml" Id="Rd3810b3be28045b2" /><Relationship Type="http://schemas.openxmlformats.org/officeDocument/2006/relationships/slide" Target="/ppt/slides/slide10.xml" Id="Reb356ce74d9542fe" /><Relationship Type="http://schemas.openxmlformats.org/officeDocument/2006/relationships/slide" Target="/ppt/slides/slide11.xml" Id="R188fa654a158420e" /><Relationship Type="http://schemas.openxmlformats.org/officeDocument/2006/relationships/slide" Target="/ppt/slides/slide12.xml" Id="R2c482beca0b648dd" /><Relationship Type="http://schemas.openxmlformats.org/officeDocument/2006/relationships/slide" Target="/ppt/slides/slide13.xml" Id="R0bd5447265e84645" /><Relationship Type="http://schemas.openxmlformats.org/officeDocument/2006/relationships/slide" Target="/ppt/slides/slide14.xml" Id="R355ad377bb444d6d" /><Relationship Type="http://schemas.openxmlformats.org/officeDocument/2006/relationships/slide" Target="/ppt/slides/slide15.xml" Id="Rf267d64278ae4de2" /><Relationship Type="http://schemas.openxmlformats.org/officeDocument/2006/relationships/slide" Target="/ppt/slides/slide16.xml" Id="R4e746184c5c543eb" /><Relationship Type="http://schemas.openxmlformats.org/officeDocument/2006/relationships/slide" Target="/ppt/slides/slide17.xml" Id="R34f4fd49e68643eb" /><Relationship Type="http://schemas.openxmlformats.org/officeDocument/2006/relationships/slide" Target="/ppt/slides/slide18.xml" Id="Rf49420fc761e47e6" /><Relationship Type="http://schemas.openxmlformats.org/officeDocument/2006/relationships/slide" Target="/ppt/slides/slide19.xml" Id="R83103d78841d4c0d" /><Relationship Type="http://schemas.openxmlformats.org/officeDocument/2006/relationships/slide" Target="/ppt/slides/slide20.xml" Id="Rc8e02f74e3814d1b" /><Relationship Type="http://schemas.openxmlformats.org/officeDocument/2006/relationships/slide" Target="/ppt/slides/slide21.xml" Id="R03183f4c1663471c" /><Relationship Type="http://schemas.openxmlformats.org/officeDocument/2006/relationships/slide" Target="/ppt/slides/slide22.xml" Id="R06f23de00cfb4f70" /><Relationship Type="http://schemas.openxmlformats.org/officeDocument/2006/relationships/slide" Target="/ppt/slides/slide23.xml" Id="Rbedcccacb4f64943" /><Relationship Type="http://schemas.openxmlformats.org/officeDocument/2006/relationships/slide" Target="/ppt/slides/slide24.xml" Id="Re1889e84a83d43d4" /><Relationship Type="http://schemas.openxmlformats.org/officeDocument/2006/relationships/slide" Target="/ppt/slides/slide25.xml" Id="R2f9338df1843474c" /><Relationship Type="http://schemas.openxmlformats.org/officeDocument/2006/relationships/slide" Target="/ppt/slides/slide26.xml" Id="Rc0bab305793f4c59" /><Relationship Type="http://schemas.openxmlformats.org/officeDocument/2006/relationships/slide" Target="/ppt/slides/slide27.xml" Id="Rbe4b027960864f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521e80ef0246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815649afeb4cc0" /><Relationship Type="http://schemas.openxmlformats.org/officeDocument/2006/relationships/notesMaster" Target="/ppt/notesMasters/notesMaster1.xml" Id="Rd8c437abb38c4a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6192c43f24c21" /><Relationship Type="http://schemas.openxmlformats.org/officeDocument/2006/relationships/notesMaster" Target="/ppt/notesMasters/notesMaster1.xml" Id="R294e62a66bec47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d1c2363d714cae" /><Relationship Type="http://schemas.openxmlformats.org/officeDocument/2006/relationships/notesMaster" Target="/ppt/notesMasters/notesMaster1.xml" Id="Rd55e9009635945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9b4fbbbb7a44ef" /><Relationship Type="http://schemas.openxmlformats.org/officeDocument/2006/relationships/notesMaster" Target="/ppt/notesMasters/notesMaster1.xml" Id="Rd890064cc88e41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8a1444f0d44166" /><Relationship Type="http://schemas.openxmlformats.org/officeDocument/2006/relationships/notesMaster" Target="/ppt/notesMasters/notesMaster1.xml" Id="Rc48ff300fa8945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9d8aab21144937" /><Relationship Type="http://schemas.openxmlformats.org/officeDocument/2006/relationships/notesMaster" Target="/ppt/notesMasters/notesMaster1.xml" Id="R14e912b7db6a4e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3d16346bb74ca6" /><Relationship Type="http://schemas.openxmlformats.org/officeDocument/2006/relationships/notesMaster" Target="/ppt/notesMasters/notesMaster1.xml" Id="Rd1196b9867c249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7c20314e7e46e1" /><Relationship Type="http://schemas.openxmlformats.org/officeDocument/2006/relationships/notesMaster" Target="/ppt/notesMasters/notesMaster1.xml" Id="R3a3fee41118b4e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f6623b96eb4c15" /><Relationship Type="http://schemas.openxmlformats.org/officeDocument/2006/relationships/notesMaster" Target="/ppt/notesMasters/notesMaster1.xml" Id="Re39e10d6bac645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aa07c244a6418e" /><Relationship Type="http://schemas.openxmlformats.org/officeDocument/2006/relationships/notesMaster" Target="/ppt/notesMasters/notesMaster1.xml" Id="Rb81a6f32fc0643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e3124cc46a44b0" /><Relationship Type="http://schemas.openxmlformats.org/officeDocument/2006/relationships/notesMaster" Target="/ppt/notesMasters/notesMaster1.xml" Id="R66e445cee5204a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37a2adf3e445ce" /><Relationship Type="http://schemas.openxmlformats.org/officeDocument/2006/relationships/notesMaster" Target="/ppt/notesMasters/notesMaster1.xml" Id="Rdab71d98585e41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efdc9b327b4a2b" /><Relationship Type="http://schemas.openxmlformats.org/officeDocument/2006/relationships/notesMaster" Target="/ppt/notesMasters/notesMaster1.xml" Id="R5a95376b209447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30f53f096048cd" /><Relationship Type="http://schemas.openxmlformats.org/officeDocument/2006/relationships/notesMaster" Target="/ppt/notesMasters/notesMaster1.xml" Id="Rd6b0f397b77340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37460953d24419" /><Relationship Type="http://schemas.openxmlformats.org/officeDocument/2006/relationships/notesMaster" Target="/ppt/notesMasters/notesMaster1.xml" Id="R1457f72ca28640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65a0d999bd4086" /><Relationship Type="http://schemas.openxmlformats.org/officeDocument/2006/relationships/notesMaster" Target="/ppt/notesMasters/notesMaster1.xml" Id="R782c593a3f5347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03d88131074c04" /><Relationship Type="http://schemas.openxmlformats.org/officeDocument/2006/relationships/notesMaster" Target="/ppt/notesMasters/notesMaster1.xml" Id="R5d9c08c7149f48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f1ba5afd7a4f7e" /><Relationship Type="http://schemas.openxmlformats.org/officeDocument/2006/relationships/notesMaster" Target="/ppt/notesMasters/notesMaster1.xml" Id="Reb7f7d3277274c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dae508b0d545d8" /><Relationship Type="http://schemas.openxmlformats.org/officeDocument/2006/relationships/notesMaster" Target="/ppt/notesMasters/notesMaster1.xml" Id="Rc132d22f3f884a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84d9668e8e41ad" /><Relationship Type="http://schemas.openxmlformats.org/officeDocument/2006/relationships/notesMaster" Target="/ppt/notesMasters/notesMaster1.xml" Id="R11d19c2268a64e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116474576e4223" /><Relationship Type="http://schemas.openxmlformats.org/officeDocument/2006/relationships/notesMaster" Target="/ppt/notesMasters/notesMaster1.xml" Id="R52be9a2daf254a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b2acae18b74df6" /><Relationship Type="http://schemas.openxmlformats.org/officeDocument/2006/relationships/notesMaster" Target="/ppt/notesMasters/notesMaster1.xml" Id="R46d9d448289c482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79ddea5e474afc" /><Relationship Type="http://schemas.openxmlformats.org/officeDocument/2006/relationships/notesMaster" Target="/ppt/notesMasters/notesMaster1.xml" Id="R93556dd2784641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83dac9aa9a4d57" /><Relationship Type="http://schemas.openxmlformats.org/officeDocument/2006/relationships/notesMaster" Target="/ppt/notesMasters/notesMaster1.xml" Id="R8947b9abaff84a7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9cba4c53dd4883" /><Relationship Type="http://schemas.openxmlformats.org/officeDocument/2006/relationships/notesMaster" Target="/ppt/notesMasters/notesMaster1.xml" Id="R7b75e81726bd4ab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2aaf7b58e184626" /><Relationship Type="http://schemas.openxmlformats.org/officeDocument/2006/relationships/notesMaster" Target="/ppt/notesMasters/notesMaster1.xml" Id="R3fd60d19d90947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1cea84af7da4ff0" /><Relationship Type="http://schemas.openxmlformats.org/officeDocument/2006/relationships/notesMaster" Target="/ppt/notesMasters/notesMaster1.xml" Id="Rd9280728c5ad47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Arnold, Mathematical Methods of Classical Mechanics, 2nd ed., Chapter 1.</a:t>
            </a:r>
          </a:p>
          <a:p xmlns:a="http://schemas.openxmlformats.org/drawingml/2006/main">
            <a:r>
              <a:t>课程知识点：无。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封面照片：Howchou / Wikimedia Commons / CC BY-SA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3–14.</a:t>
            </a:r>
          </a:p>
          <a:p xmlns:a="http://schemas.openxmlformats.org/drawingml/2006/main">
            <a:r>
              <a:t>课程知识点：kp-ch01-relativity, kp-ch01-newton-initial-value。</a:t>
            </a:r>
          </a:p>
          <a:p xmlns:a="http://schemas.openxmlformats.org/drawingml/2006/main">
            <a:r>
              <a:t>把这三条线索先交代清楚，后续每个例子都可回到“前提—方程—结论”。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3–4.</a:t>
            </a:r>
          </a:p>
          <a:p xmlns:a="http://schemas.openxmlformats.org/drawingml/2006/main">
            <a:r>
              <a:t>课程知识点：kp-ch01-relativity。</a:t>
            </a:r>
          </a:p>
          <a:p xmlns:a="http://schemas.openxmlformats.org/drawingml/2006/main">
            <a:r>
              <a:t>原书脚注提醒这些经验事实只在模型精度内成立，不宜把它们说成不依赖实验的定理。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3–4.</a:t>
            </a:r>
          </a:p>
          <a:p xmlns:a="http://schemas.openxmlformats.org/drawingml/2006/main">
            <a:r>
              <a:t>课程知识点：kp-ch01-relativity。</a:t>
            </a:r>
          </a:p>
          <a:p xmlns:a="http://schemas.openxmlformats.org/drawingml/2006/main">
            <a:r>
              <a:t>直观例子意在说明“定律同形”，不是断言速度测量本身没有意义。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4–5.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原书书页 4–5：A⁴ 为仿射空间，τ:E→ℝ 给时间间隔。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5.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原书特别指出：没有选坐标系时，非同时事件“发生在同一三维空间地点”没有固有意义。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5–6.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板书时强调根号内是同时方向上的内积，而非四维时空间隔。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6.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原书书页 6：四类参数数目依次为 3、1、3、3，合计 10。时间方向一旦固定，不把时间反向算入该连通描述。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6, 9–10.</a:t>
            </a:r>
          </a:p>
          <a:p xmlns:a="http://schemas.openxmlformats.org/drawingml/2006/main">
            <a:r>
              <a:t>课程知识点：kp-ch01-galilean-structure, kp-ch01-equivariance。</a:t>
            </a:r>
          </a:p>
          <a:p xmlns:a="http://schemas.openxmlformats.org/drawingml/2006/main">
            <a:r>
              <a:t>此式在 t′=t+s 且 R、v 常量的 Galilei 变换下成立。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7–8.</a:t>
            </a:r>
          </a:p>
          <a:p xmlns:a="http://schemas.openxmlformats.org/drawingml/2006/main">
            <a:r>
              <a:t>课程知识点：kp-ch01-kinematics。</a:t>
            </a:r>
          </a:p>
          <a:p xmlns:a="http://schemas.openxmlformats.org/drawingml/2006/main">
            <a:r>
              <a:t>可让学生比较同一路径上的两种时间参数化；这里不复制原书图 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7.</a:t>
            </a:r>
          </a:p>
          <a:p xmlns:a="http://schemas.openxmlformats.org/drawingml/2006/main">
            <a:r>
              <a:t>课程知识点：kp-ch01-kinematics。</a:t>
            </a:r>
          </a:p>
          <a:p xmlns:a="http://schemas.openxmlformats.org/drawingml/2006/main">
            <a:r>
              <a:t>对应原书图 3 的判断题；公式是资源包对曲率法向量的整理，不是直接照搬图片。</a:t>
            </a:r>
          </a:p>
          <a:p xmlns:a="http://schemas.openxmlformats.org/drawingml/2006/main">
            <a:r>
              <a:t>本页图像为用户课程资源包中的教材图3。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8.</a:t>
            </a:r>
          </a:p>
          <a:p xmlns:a="http://schemas.openxmlformats.org/drawingml/2006/main">
            <a:r>
              <a:t>课程知识点：kp-ch01-newton-initial-value。</a:t>
            </a:r>
          </a:p>
          <a:p xmlns:a="http://schemas.openxmlformats.org/drawingml/2006/main">
            <a:r>
              <a:t>原书书页 8：n 个三维质点的构形空间是 (ℝ³)^n。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8 footnote 8.</a:t>
            </a:r>
          </a:p>
          <a:p xmlns:a="http://schemas.openxmlformats.org/drawingml/2006/main">
            <a:r>
              <a:t>课程知识点：kp-ch01-newton-initial-value。</a:t>
            </a:r>
          </a:p>
          <a:p xmlns:a="http://schemas.openxmlformats.org/drawingml/2006/main">
            <a:r>
              <a:t>避免把原书“for simplicity assume whole time axis”的简化约定说成由局部定理推出。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9–10.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原书书页 9 的月球潮汐例子正是开放子系统的边界。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10.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原书书页 10 的函数关系；资源包特别提醒别外推到所有相互作用。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10.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这是从对称性到几何约束的推理链；结论只在唯一解存在的区间内成立。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10, problem p010-2.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如果两初始位置重合或系统存在碰撞奇点，要先核对方程定义域。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13–14.</a:t>
            </a:r>
          </a:p>
          <a:p xmlns:a="http://schemas.openxmlformats.org/drawingml/2006/main">
            <a:r>
              <a:t>课程知识点：kp-ch01-potential-models。</a:t>
            </a:r>
          </a:p>
          <a:p xmlns:a="http://schemas.openxmlformats.org/drawingml/2006/main">
            <a:r>
              <a:t>原书书页 14 定义了多质点保守系统；注意 U 在此是总势能，不是每单位质量势能。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12–14.</a:t>
            </a:r>
          </a:p>
          <a:p xmlns:a="http://schemas.openxmlformats.org/drawingml/2006/main">
            <a:r>
              <a:t>课程知识点：kp-ch01-potential-models, kp-ch01-escape-velocity。</a:t>
            </a:r>
          </a:p>
          <a:p xmlns:a="http://schemas.openxmlformats.org/drawingml/2006/main">
            <a:r>
              <a:t>能量守恒公式是对本章保守模型的推导；可在板书中逐项求导。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11–13.</a:t>
            </a:r>
          </a:p>
          <a:p xmlns:a="http://schemas.openxmlformats.org/drawingml/2006/main">
            <a:r>
              <a:t>课程知识点：kp-ch01-potential-models。</a:t>
            </a:r>
          </a:p>
          <a:p xmlns:a="http://schemas.openxmlformats.org/drawingml/2006/main">
            <a:r>
              <a:t>近地常加速度与逆平方场是不同近似；不能把 U=gz 沿用到任意远。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12.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原书的题目明确忽略太阳引力；不把这个结果说成逃出太阳系的速度。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12.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原书给地球近似数值 11.2 km/s；数值只是模型参数代入结果。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12, problem p012-1.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题目来自资源包 source-exercise:p012-1；课堂上先不展示解答页。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12, answer to p012-1.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题目简解与原书书页 12 的近似值一致；数值在课件里标为近似。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p. 11, problem p011-2.</a:t>
            </a:r>
          </a:p>
          <a:p xmlns:a="http://schemas.openxmlformats.org/drawingml/2006/main">
            <a:r>
              <a:t>课程知识点：kp-ch01-relativity, kp-ch01-galilean-structure。</a:t>
            </a:r>
          </a:p>
          <a:p xmlns:a="http://schemas.openxmlformats.org/drawingml/2006/main">
            <a:r>
              <a:t>保留原书问题的“类是否唯一”措辞；不把换单位当成已固定结构内的 Galilei 变换。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3–14.</a:t>
            </a:r>
          </a:p>
          <a:p xmlns:a="http://schemas.openxmlformats.org/drawingml/2006/main">
            <a:r>
              <a:t>课程知识点：kp-ch01-relativity, kp-ch01-equivariance, kp-ch01-escape-velocity。</a:t>
            </a:r>
          </a:p>
          <a:p xmlns:a="http://schemas.openxmlformats.org/drawingml/2006/main">
            <a:r>
              <a:t>下一章研究具体运动方程；课后可回看 p010-2 与 p012-1 的推理条件。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来源：V. I. Arnold, Mathematical Methods of Classical Mechanics, 2nd ed., pp. 3–14.</a:t>
            </a:r>
          </a:p>
          <a:p xmlns:a="http://schemas.openxmlformats.org/drawingml/2006/main">
            <a:r>
              <a:t>课程知识点：kp-ch01-relativity, kp-ch01-escape-velocity。</a:t>
            </a:r>
          </a:p>
          <a:p xmlns:a="http://schemas.openxmlformats.org/drawingml/2006/main">
            <a:r>
              <a:t>补充参考：https://ocw.mit.edu/courses/8-033-introduction-to-relativity-and-spacetime-physics-fall-2024/download/ ; https://ocw.mit.edu/courses/8-01sc-classical-mechanics-fall-2016/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a04ed826a4b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c3a8b089440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4045e29f940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7dfa595af49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acb4c64874d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758f42c65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DA0ABE-80D6-4CC3-8760-BD300935FE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7289E6-427C-4AF2-8FEC-D00D6348F4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D40834-6A9A-44B5-BA73-39F9FC19B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169AF6-C5CB-49FB-A0FE-40C4E5DAAD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A08B9D-30D7-447A-9558-F542D7E3E4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9ECB06-B9D2-4865-926F-52E94E33FB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070D65-33BE-4AB2-82BB-D84B2DC3C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001757-1AFA-48F7-A9DF-7569FF4D3A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4F1CB8-88DD-43E5-B044-A41747097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C9FBC9-1DCC-4A0C-8285-CBBE1C7FBE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fc4869dd294f3f" /><Relationship Type="http://schemas.openxmlformats.org/officeDocument/2006/relationships/slideLayout" Target="/ppt/slideLayouts/slideLayout1.xml" Id="R961ddd3e78634c26" /><Relationship Type="http://schemas.openxmlformats.org/officeDocument/2006/relationships/slideLayout" Target="/ppt/slideLayouts/slideLayout2.xml" Id="Rc9b47f499e874f17" /><Relationship Type="http://schemas.openxmlformats.org/officeDocument/2006/relationships/slideLayout" Target="/ppt/slideLayouts/slideLayout3.xml" Id="Rd25b06f885644a3d" /><Relationship Type="http://schemas.openxmlformats.org/officeDocument/2006/relationships/slideLayout" Target="/ppt/slideLayouts/slideLayout4.xml" Id="Rdb77b5bb64b54bdd" /><Relationship Type="http://schemas.openxmlformats.org/officeDocument/2006/relationships/slideLayout" Target="/ppt/slideLayouts/slideLayout5.xml" Id="R994b0b35c2c64d26" /><Relationship Type="http://schemas.openxmlformats.org/officeDocument/2006/relationships/slideLayout" Target="/ppt/slideLayouts/slideLayout6.xml" Id="R5fcda5b49cac49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ddd3e78634c26"/>
    <p:sldLayoutId xmlns:r="http://schemas.openxmlformats.org/officeDocument/2006/relationships" id="2147483650" r:id="Rc9b47f499e874f17"/>
    <p:sldLayoutId xmlns:r="http://schemas.openxmlformats.org/officeDocument/2006/relationships" id="2147483651" r:id="Rd25b06f885644a3d"/>
    <p:sldLayoutId xmlns:r="http://schemas.openxmlformats.org/officeDocument/2006/relationships" id="2147483652" r:id="Rdb77b5bb64b54bdd"/>
    <p:sldLayoutId xmlns:r="http://schemas.openxmlformats.org/officeDocument/2006/relationships" id="2147483653" r:id="R994b0b35c2c64d26"/>
    <p:sldLayoutId xmlns:r="http://schemas.openxmlformats.org/officeDocument/2006/relationships" id="2147483654" r:id="R5fcda5b49cac49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7dd60f7fa4d9f" /><Relationship Type="http://schemas.openxmlformats.org/officeDocument/2006/relationships/image" Target="/ppt/media/image.jpeg" Id="Re4361c1a01234c27" /><Relationship Type="http://schemas.openxmlformats.org/officeDocument/2006/relationships/notesSlide" Target="/ppt/notesSlides/notesSlide1.xml" Id="Rd72d76c50dc14f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b2762b29e4d57" /><Relationship Type="http://schemas.openxmlformats.org/officeDocument/2006/relationships/notesSlide" Target="/ppt/notesSlides/notesSlide2.xml" Id="R02182651a93c49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2f94c7352d4cf5" /><Relationship Type="http://schemas.openxmlformats.org/officeDocument/2006/relationships/notesSlide" Target="/ppt/notesSlides/notesSlide3.xml" Id="Ra12462d2a08445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0b1f35cef482d" /><Relationship Type="http://schemas.openxmlformats.org/officeDocument/2006/relationships/notesSlide" Target="/ppt/notesSlides/notesSlide4.xml" Id="R459c5a49d34846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ae07b10314731" /><Relationship Type="http://schemas.openxmlformats.org/officeDocument/2006/relationships/image" Target="/ppt/media/image.png" Id="Rd869bc960be74bf7" /><Relationship Type="http://schemas.openxmlformats.org/officeDocument/2006/relationships/notesSlide" Target="/ppt/notesSlides/notesSlide5.xml" Id="Rb46ff33e7ecd4e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782bda10e4794" /><Relationship Type="http://schemas.openxmlformats.org/officeDocument/2006/relationships/image" Target="/ppt/media/image2.png" Id="R1d2ce1e432b743cf" /><Relationship Type="http://schemas.openxmlformats.org/officeDocument/2006/relationships/notesSlide" Target="/ppt/notesSlides/notesSlide6.xml" Id="Rd02c6d8975fd47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71164b5cb4540" /><Relationship Type="http://schemas.openxmlformats.org/officeDocument/2006/relationships/image" Target="/ppt/media/image3.png" Id="R28c6474991454ea3" /><Relationship Type="http://schemas.openxmlformats.org/officeDocument/2006/relationships/notesSlide" Target="/ppt/notesSlides/notesSlide7.xml" Id="Rf11e0fd9b23c45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7b94919484df1" /><Relationship Type="http://schemas.openxmlformats.org/officeDocument/2006/relationships/image" Target="/ppt/media/image4.png" Id="R22eef2c64ffc4de6" /><Relationship Type="http://schemas.openxmlformats.org/officeDocument/2006/relationships/notesSlide" Target="/ppt/notesSlides/notesSlide8.xml" Id="R2735e647c90f40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e310715a746ca" /><Relationship Type="http://schemas.openxmlformats.org/officeDocument/2006/relationships/image" Target="/ppt/media/image5.png" Id="R479e4567f4a74f88" /><Relationship Type="http://schemas.openxmlformats.org/officeDocument/2006/relationships/notesSlide" Target="/ppt/notesSlides/notesSlide9.xml" Id="R6c2701defe0f4b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f28beab444638" /><Relationship Type="http://schemas.openxmlformats.org/officeDocument/2006/relationships/image" Target="/ppt/media/image6.png" Id="R0677849a5e11452f" /><Relationship Type="http://schemas.openxmlformats.org/officeDocument/2006/relationships/notesSlide" Target="/ppt/notesSlides/notesSlide10.xml" Id="R629c7285fb344f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984962ed940fb" /><Relationship Type="http://schemas.openxmlformats.org/officeDocument/2006/relationships/image" Target="/ppt/media/image7.png" Id="R022a9239efac4f94" /><Relationship Type="http://schemas.openxmlformats.org/officeDocument/2006/relationships/image" Target="/ppt/media/image8.png" Id="R646f5bfc8b6c4641" /><Relationship Type="http://schemas.openxmlformats.org/officeDocument/2006/relationships/notesSlide" Target="/ppt/notesSlides/notesSlide11.xml" Id="Rb64ada1a130e43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f8648b9a745ec" /><Relationship Type="http://schemas.openxmlformats.org/officeDocument/2006/relationships/image" Target="/ppt/media/image9.png" Id="Ra521d096cdd847be" /><Relationship Type="http://schemas.openxmlformats.org/officeDocument/2006/relationships/image" Target="/ppt/media/image10.png" Id="R4c9605e7ae2f44ce" /><Relationship Type="http://schemas.openxmlformats.org/officeDocument/2006/relationships/notesSlide" Target="/ppt/notesSlides/notesSlide12.xml" Id="R858447b2bbe94e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fbba9fd824587" /><Relationship Type="http://schemas.openxmlformats.org/officeDocument/2006/relationships/image" Target="/ppt/media/image11.png" Id="R4ebb91728dae4afb" /><Relationship Type="http://schemas.openxmlformats.org/officeDocument/2006/relationships/notesSlide" Target="/ppt/notesSlides/notesSlide13.xml" Id="Rd931fee9131442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0bc00a9c34130" /><Relationship Type="http://schemas.openxmlformats.org/officeDocument/2006/relationships/image" Target="/ppt/media/image12.png" Id="Re93a17813f1548f6" /><Relationship Type="http://schemas.openxmlformats.org/officeDocument/2006/relationships/notesSlide" Target="/ppt/notesSlides/notesSlide14.xml" Id="R450537f868e04c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9d60472304c0c" /><Relationship Type="http://schemas.openxmlformats.org/officeDocument/2006/relationships/image" Target="/ppt/media/image13.png" Id="Rd75574bcaa4d4012" /><Relationship Type="http://schemas.openxmlformats.org/officeDocument/2006/relationships/notesSlide" Target="/ppt/notesSlides/notesSlide15.xml" Id="R0fa281fbfa0343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ea6c42b434dac" /><Relationship Type="http://schemas.openxmlformats.org/officeDocument/2006/relationships/notesSlide" Target="/ppt/notesSlides/notesSlide16.xml" Id="R12993cb4f84542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b199ab1f9412d" /><Relationship Type="http://schemas.openxmlformats.org/officeDocument/2006/relationships/notesSlide" Target="/ppt/notesSlides/notesSlide17.xml" Id="R25f956a4dfb542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5930d8f6b48f0" /><Relationship Type="http://schemas.openxmlformats.org/officeDocument/2006/relationships/image" Target="/ppt/media/image14.png" Id="R48c8fd4d2f014265" /><Relationship Type="http://schemas.openxmlformats.org/officeDocument/2006/relationships/notesSlide" Target="/ppt/notesSlides/notesSlide18.xml" Id="R4b8c0e4e9f0140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f6e92116b4080" /><Relationship Type="http://schemas.openxmlformats.org/officeDocument/2006/relationships/image" Target="/ppt/media/image15.png" Id="Re90ee16c30134875" /><Relationship Type="http://schemas.openxmlformats.org/officeDocument/2006/relationships/notesSlide" Target="/ppt/notesSlides/notesSlide19.xml" Id="Rfd251c22c96f4f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df68e7bdb49ea" /><Relationship Type="http://schemas.openxmlformats.org/officeDocument/2006/relationships/image" Target="/ppt/media/image16.png" Id="Rb4def487e8ad49ad" /><Relationship Type="http://schemas.openxmlformats.org/officeDocument/2006/relationships/notesSlide" Target="/ppt/notesSlides/notesSlide20.xml" Id="Rd75f602d6eb646f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dc69cf086410c" /><Relationship Type="http://schemas.openxmlformats.org/officeDocument/2006/relationships/image" Target="/ppt/media/image17.png" Id="R63ccadfd2fa74df5" /><Relationship Type="http://schemas.openxmlformats.org/officeDocument/2006/relationships/image" Target="/ppt/media/image18.png" Id="Rad348f2cd3b54efe" /><Relationship Type="http://schemas.openxmlformats.org/officeDocument/2006/relationships/notesSlide" Target="/ppt/notesSlides/notesSlide21.xml" Id="R23c3be971ad74a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a1d7feadd454f" /><Relationship Type="http://schemas.openxmlformats.org/officeDocument/2006/relationships/image" Target="/ppt/media/image19.png" Id="R92ce36b879ce46b4" /><Relationship Type="http://schemas.openxmlformats.org/officeDocument/2006/relationships/image" Target="/ppt/media/image20.png" Id="R44d44e42759b4ce1" /><Relationship Type="http://schemas.openxmlformats.org/officeDocument/2006/relationships/notesSlide" Target="/ppt/notesSlides/notesSlide22.xml" Id="R1dbfb5a63f5a4ee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475c8283642a6" /><Relationship Type="http://schemas.openxmlformats.org/officeDocument/2006/relationships/image" Target="/ppt/media/image21.png" Id="R8d14d74c841e45b4" /><Relationship Type="http://schemas.openxmlformats.org/officeDocument/2006/relationships/notesSlide" Target="/ppt/notesSlides/notesSlide23.xml" Id="Rf61c2e8cb02045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cad4a7c4a4a38" /><Relationship Type="http://schemas.openxmlformats.org/officeDocument/2006/relationships/image" Target="/ppt/media/image22.png" Id="R072020472e7849d1" /><Relationship Type="http://schemas.openxmlformats.org/officeDocument/2006/relationships/image" Target="/ppt/media/image23.png" Id="Rf9d1120ed3944a4c" /><Relationship Type="http://schemas.openxmlformats.org/officeDocument/2006/relationships/notesSlide" Target="/ppt/notesSlides/notesSlide24.xml" Id="R3ea5510853c848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0f65e17524a96" /><Relationship Type="http://schemas.openxmlformats.org/officeDocument/2006/relationships/notesSlide" Target="/ppt/notesSlides/notesSlide25.xml" Id="Rfbdaf0ca00a24c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240952a4145dd" /><Relationship Type="http://schemas.openxmlformats.org/officeDocument/2006/relationships/notesSlide" Target="/ppt/notesSlides/notesSlide26.xml" Id="Ra97475336ae548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1d0c85a00449b5" /><Relationship Type="http://schemas.openxmlformats.org/officeDocument/2006/relationships/notesSlide" Target="/ppt/notesSlides/notesSlide27.xml" Id="R935e8e3aaae743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7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1294D-AB47-4866-9EA8-A44BE058A1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61c1a01234c27"/>
          <a:stretch xmlns:a="http://schemas.openxmlformats.org/drawingml/2006/main"/>
        </p:blipFill>
        <p:spPr>
          <a:xfrm xmlns:a="http://schemas.openxmlformats.org/drawingml/2006/main">
            <a:off x="7191375" y="1813663"/>
            <a:ext cx="5000625" cy="323067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D5EEC-259A-418B-9A65-44D23A7E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D5E7F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5E7F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5E7F6"/>
                </a:solidFill>
                <a:latin typeface="PingFang SC"/>
                <a:ea typeface="PingFang SC"/>
                <a:cs typeface="PingFang SC"/>
              </a:rPr>
              <a:t>武汉大学 · 数学与统计学院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0BF68-F66C-4E5A-A946-0BE48465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609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第1章 实验事实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22AA5-844D-4F29-9FD5-02291D7D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D7E8F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D7E8F3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D7E8F3"/>
                </a:solidFill>
                <a:latin typeface="PingFang SC"/>
                <a:ea typeface="PingFang SC"/>
                <a:cs typeface="PingFang SC"/>
              </a:rPr>
              <a:t>辛几何与数学物理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CA5F9-8AA8-4E72-960B-25CB36D8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671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7C0FB-FBFD-4723-83FA-CB2307B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483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C9DEE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9DE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9DEED"/>
                </a:solidFill>
                <a:latin typeface="PingFang SC"/>
                <a:ea typeface="PingFang SC"/>
                <a:cs typeface="PingFang SC"/>
              </a:rPr>
              <a:t>第 1 章  ·  教学课件</a:t>
            </a:r>
          </a:p>
        </p:txBody>
      </p:sp>
    </p:spTree>
    <p:extLst>
      <p:ext uri="{BB962C8B-B14F-4D97-AF65-F5344CB8AC3E}">
        <p14:creationId xmlns:p14="http://schemas.microsoft.com/office/powerpoint/2010/main" val="972679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5FA37-9D5F-473B-8C81-6580A9FB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25C8A-44D3-4034-974E-4388165F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本章的三条线索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4287E-3BAC-4124-B852-887A463B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D30CE-D405-45FF-B357-07045A8E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从实验前提出发，再把运动写成方程，最后检验具体模型。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6235A-1980-443D-BA89-000BF89C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5AB0F-6E2E-4A09-9E6A-75D70F8B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物理层：相对性原理与确定性原理描述惯性系和初始状态。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53966-BF08-4A58-8BEE-EB719478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BF949-63BA-4701-B522-C8C21F8E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数学层：Galilei 时空结构、变换群与 Newton 初值问题。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E2EAD-8DF2-45BD-BE2F-3B6EB6CF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862FC-52B3-43CB-8FEE-5BEACCDC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应用层：对称性限制力的形式；势能和能量给出可计算例子。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C1343-A7D4-42EA-ADD6-791583E9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3–14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DF4F4-DA51-48C3-A2CC-839B24D5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02 / 27</a:t>
            </a:r>
          </a:p>
        </p:txBody>
      </p:sp>
    </p:spTree>
    <p:extLst>
      <p:ext uri="{BB962C8B-B14F-4D97-AF65-F5344CB8AC3E}">
        <p14:creationId xmlns:p14="http://schemas.microsoft.com/office/powerpoint/2010/main" val="1209161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6CBC4-495B-4FCE-A7F6-6D3ABF7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40CB2-9DC3-4768-B2F8-28F36DE6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经验前提不是数学定理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1F41D-CADB-4878-AA1D-EAE88E71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198E2-BCBB-4A48-BF9D-641F3BCF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Arnold 明确把第一章的“实验事实”视为经典力学的近似前提。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70F04-0D2C-4517-9740-7B797C35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BA25E-DB60-4887-862A-D39D422D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相对性：存在一族惯性系，其中物理定律在各时刻同形。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D7CCE-FF0F-477B-BC3A-CB25F1E6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36BDF-1E51-41DF-849E-1A5EA15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确定性：机械系统的初始位置和速度决定其后续运动。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2A085-0C49-4E8A-B775-0BFBD72D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D002C-9F4F-426B-B6F7-AB4C1CF0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后面要区分原理的物理主张与微分方程的数学存在唯一性。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B98E8-4AB6-406A-BE6A-41BDF16E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3–4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48F23-6052-4547-9880-869496BC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03 / 27</a:t>
            </a:r>
          </a:p>
        </p:txBody>
      </p:sp>
    </p:spTree>
    <p:extLst>
      <p:ext uri="{BB962C8B-B14F-4D97-AF65-F5344CB8AC3E}">
        <p14:creationId xmlns:p14="http://schemas.microsoft.com/office/powerpoint/2010/main" val="1995241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87CD0-77C0-466F-BBEB-35BAF5B0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D5725-6189-4391-9449-69A0D461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惯性系的直观例子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44D56-A059-402E-9396-67B0B7DD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98C13-3C39-4D8A-BBDC-5D9E2FDE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匀速直线运动的列车是理解 Galilei 相对性的入口。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14634-B9AD-4643-BB71-67ADB3AB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8AEBA-D257-4348-8EB7-79BAB9A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如果地球系近似惯性，封闭车厢内的力学实验不能测出列车的匀速平动。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34C5C-09D8-4BBE-A03B-DA23B2AF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050F4-2865-4B0C-BD51-0A7F5ACE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真实地球系并非严格惯性；忽略地球转动等效应有尺度条件。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DA22A-2F44-4446-A0FA-12DC9C4C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1C6C0-40EA-47CB-9BA5-225B12D6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这个例子只说明惯性系之间的关系，不推出一切外界作用都可忽略。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3704D-4273-49BC-877C-4B616784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3–4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12C53-EAA9-4698-9583-CB627418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04 / 27</a:t>
            </a:r>
          </a:p>
        </p:txBody>
      </p:sp>
    </p:spTree>
    <p:extLst>
      <p:ext uri="{BB962C8B-B14F-4D97-AF65-F5344CB8AC3E}">
        <p14:creationId xmlns:p14="http://schemas.microsoft.com/office/powerpoint/2010/main" val="626193719"/>
      </p:ext>
    </p:extLst>
  </p:cSld>
</p:sld>
</file>

<file path=ppt/slides/slide5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20AD0996-E3CC-4B25-A87D-AF3FA42A8CB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F4B10001-491B-46E0-85F0-87F41EBDA40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Galilei 时空的载体</a:t></a:r></a:p></p:txBody></p:sp><p:sp><p:nvSpPr><p:cNvPr id="3" name=""><a:extLst xmlns:a="http://schemas.openxmlformats.org/drawingml/2006/main"><a:ext uri="{FF2B5EF4-FFF2-40B4-BE49-F238E27FC236}"><a16:creationId id="{6968458D-0FED-4648-BFD8-35720FAAF31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799D45AE-60F2-44F9-9554-40EBD8EB830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事件组成四维仿射空间：点之间可以作差，但没有天然原点。</a:t></a:r></a:p></p:txBody></p:sp><p:sp><p:nvSpPr><p:cNvPr id="5" name=""><a:extLst xmlns:a="http://schemas.openxmlformats.org/drawingml/2006/main"><a:ext uri="{FF2B5EF4-FFF2-40B4-BE49-F238E27FC236}"><a16:creationId id="{001A3F0B-F81F-418C-96D5-D3489F97DF4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F0A2C9BC-11DB-41FC-978F-1662016581B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事件的差属于四维平移向量空间。</a:t></a:r></a:p></p:txBody></p:sp><p:sp><p:nvSpPr><p:cNvPr id="7" name=""><a:extLst xmlns:a="http://schemas.openxmlformats.org/drawingml/2006/main"><a:ext uri="{FF2B5EF4-FFF2-40B4-BE49-F238E27FC236}"><a16:creationId id="{8D8B7208-9CCB-40CB-ABCA-D313105493D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45C57D20-DA7F-40D9-A0EC-769F4383762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时间由一个非零线性映射给出；同时事件的差属于它的核。</a:t></a:r></a:p></p:txBody></p:sp><p:sp><p:nvSpPr><p:cNvPr id="9" name=""><a:extLst xmlns:a="http://schemas.openxmlformats.org/drawingml/2006/main"><a:ext uri="{FF2B5EF4-FFF2-40B4-BE49-F238E27FC236}"><a16:creationId id="{F205A81E-01F7-41FF-AED5-5F3CF2730F9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2BB63691-FA0B-4015-9994-145EA11A2C7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选择原点和坐标是描述便利，并非物理结构本身。</a:t></a:r></a:p></p:txBody></p:sp><p:sp><p:nvSpPr><p:cNvPr id="11" name=""><a:extLst xmlns:a="http://schemas.openxmlformats.org/drawingml/2006/main"><a:ext uri="{FF2B5EF4-FFF2-40B4-BE49-F238E27FC236}"><a16:creationId id="{0177D993-6F2E-4699-A53D-AF633C2396F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5.1"/><p:cNvSpPr txBox="1"/><p:nvPr/></p:nvSpPr><p:spPr><a:xfrm xmlns:a="http://schemas.openxmlformats.org/drawingml/2006/main"><a:off x="4353460" y="5314950" /><a:ext cx="4056580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Δt = τ(b−a)</m:t></m:r></m:oMath></m:oMathPara></a14:m><a:endParaRPr lang="en-US"/></a:p></p:txBody></p:sp><p:sp><p:nvSpPr><p:cNvPr id="13" name=""><a:extLst xmlns:a="http://schemas.openxmlformats.org/drawingml/2006/main"><a:ext uri="{FF2B5EF4-FFF2-40B4-BE49-F238E27FC236}"><a16:creationId id="{4C10B7A1-0EE8-4966-A8A9-779868A37E2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pp. 4–5 · 课程资源包</a:t></a:r></a:p></p:txBody></p:sp><p:sp><p:nvSpPr><p:cNvPr id="14" name=""><a:extLst xmlns:a="http://schemas.openxmlformats.org/drawingml/2006/main"><a:ext uri="{FF2B5EF4-FFF2-40B4-BE49-F238E27FC236}"><a16:creationId id="{6ADFAB4F-2797-44A0-9B09-2C6FA29DB2E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05 / 27</a:t></a:r></a:p></p:txBody></p:sp></p:spTree><p:extLst><p:ext uri="{BB962C8B-B14F-4D97-AF65-F5344CB8AC3E}"><p14:creationId val="418101910" xmlns:p14="http://schemas.microsoft.com/office/powerpoint/2010/main" /></p:ext></p:extLst></p:cSld></p:sld>
</file>

<file path=ppt/slides/slide6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B9BA3EB9-CF69-49A0-B776-19513732E65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E5066250-88AE-4FA7-88AD-625E82F8599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同时性来自时间映射</a:t></a:r></a:p></p:txBody></p:sp><p:sp><p:nvSpPr><p:cNvPr id="3" name=""><a:extLst xmlns:a="http://schemas.openxmlformats.org/drawingml/2006/main"><a:ext uri="{FF2B5EF4-FFF2-40B4-BE49-F238E27FC236}"><a16:creationId id="{F4D0572E-1A19-43CC-B210-B1F63856E23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AD8BA4FD-81B7-4FF1-93D4-EBA823811AC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两个事件同时，当且仅当它们的时间间隔为零。</a:t></a:r></a:p></p:txBody></p:sp><p:sp><p:nvSpPr><p:cNvPr id="5" name=""><a:extLst xmlns:a="http://schemas.openxmlformats.org/drawingml/2006/main"><a:ext uri="{FF2B5EF4-FFF2-40B4-BE49-F238E27FC236}"><a16:creationId id="{ED136DF2-35AD-4991-8B72-647EEF95187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1AF1670B-08E0-4152-B9C4-82958C368BA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固定某一时刻得到三维的同时事件切片。</a:t></a:r></a:p></p:txBody></p:sp><p:sp><p:nvSpPr><p:cNvPr id="7" name=""><a:extLst xmlns:a="http://schemas.openxmlformats.org/drawingml/2006/main"><a:ext uri="{FF2B5EF4-FFF2-40B4-BE49-F238E27FC236}"><a16:creationId id="{E2F32137-240A-47F9-9807-43BE86A7E68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94B5A732-FCF4-4DE3-A572-32F15F511DC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这一步只用时间结构；尚未比较不同地点间的距离。</a:t></a:r></a:p></p:txBody></p:sp><p:sp><p:nvSpPr><p:cNvPr id="9" name=""><a:extLst xmlns:a="http://schemas.openxmlformats.org/drawingml/2006/main"><a:ext uri="{FF2B5EF4-FFF2-40B4-BE49-F238E27FC236}"><a16:creationId id="{8FA6973C-4EF7-46EE-AA9A-08E3B389592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3FE676DF-3C9F-466E-8F3D-A800A058C7F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不同时间发生的两个事件“在同一空间地点”需要先选定坐标系。</a:t></a:r></a:p></p:txBody></p:sp><p:sp><p:nvSpPr><p:cNvPr id="11" name=""><a:extLst xmlns:a="http://schemas.openxmlformats.org/drawingml/2006/main"><a:ext uri="{FF2B5EF4-FFF2-40B4-BE49-F238E27FC236}"><a16:creationId id="{19DB228F-C6EE-449E-B166-6AA57E940FD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6.1"/><p:cNvSpPr txBox="1"/><p:nvPr/></p:nvSpPr><p:spPr><a:xfrm xmlns:a="http://schemas.openxmlformats.org/drawingml/2006/main"><a:off x="4568415" y="5314950" /><a:ext cx="3626671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τ(b−a) = 0</m:t></m:r></m:oMath></m:oMathPara></a14:m><a:endParaRPr lang="en-US"/></a:p></p:txBody></p:sp><p:sp><p:nvSpPr><p:cNvPr id="13" name=""><a:extLst xmlns:a="http://schemas.openxmlformats.org/drawingml/2006/main"><a:ext uri="{FF2B5EF4-FFF2-40B4-BE49-F238E27FC236}"><a16:creationId id="{94FEC32C-E38C-4FF4-9207-0C679F61DBB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p. 5 · 课程资源包</a:t></a:r></a:p></p:txBody></p:sp><p:sp><p:nvSpPr><p:cNvPr id="14" name=""><a:extLst xmlns:a="http://schemas.openxmlformats.org/drawingml/2006/main"><a:ext uri="{FF2B5EF4-FFF2-40B4-BE49-F238E27FC236}"><a16:creationId id="{15C138E6-CA95-45ED-81EB-4BCB1F5405D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06 / 27</a:t></a:r></a:p></p:txBody></p:sp></p:spTree><p:extLst><p:ext uri="{BB962C8B-B14F-4D97-AF65-F5344CB8AC3E}"><p14:creationId val="1210106858" xmlns:p14="http://schemas.microsoft.com/office/powerpoint/2010/main" /></p:ext></p:extLst></p:cSld></p:sld>
</file>

<file path=ppt/slides/slide7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E6FF6BBA-16F9-45CD-9BA0-0ECA639A968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099C64EA-8B3A-4BF1-B484-DE9E361ECF7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空间距离只比较同时事件</a:t></a:r></a:p></p:txBody></p:sp><p:sp><p:nvSpPr><p:cNvPr id="3" name=""><a:extLst xmlns:a="http://schemas.openxmlformats.org/drawingml/2006/main"><a:ext uri="{FF2B5EF4-FFF2-40B4-BE49-F238E27FC236}"><a16:creationId id="{50A5C5F8-9F4C-45BA-9B0A-02831DAFBF2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E1B376E2-3ABD-4BDB-961F-C5D03996F88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时间结构之外，在同时方向还需指定正定内积。</a:t></a:r></a:p></p:txBody></p:sp><p:sp><p:nvSpPr><p:cNvPr id="5" name=""><a:extLst xmlns:a="http://schemas.openxmlformats.org/drawingml/2006/main"><a:ext uri="{FF2B5EF4-FFF2-40B4-BE49-F238E27FC236}"><a16:creationId id="{A9E43B55-41BB-429E-8541-1B4E6E03446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6A276710-221E-471C-B10C-C4FEBDDE6F7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内积定义同一时刻两事件之间的欧氏距离。</a:t></a:r></a:p></p:txBody></p:sp><p:sp><p:nvSpPr><p:cNvPr id="7" name=""><a:extLst xmlns:a="http://schemas.openxmlformats.org/drawingml/2006/main"><a:ext uri="{FF2B5EF4-FFF2-40B4-BE49-F238E27FC236}"><a16:creationId id="{8C459849-0D27-4CA5-B40D-16D848DB954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52330BBB-D500-4F53-899C-AF03ADA6040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对不同时事件，不能直接套用这条空间距离公式。</a:t></a:r></a:p></p:txBody></p:sp><p:sp><p:nvSpPr><p:cNvPr id="9" name=""><a:extLst xmlns:a="http://schemas.openxmlformats.org/drawingml/2006/main"><a:ext uri="{FF2B5EF4-FFF2-40B4-BE49-F238E27FC236}"><a16:creationId id="{BD9A9B38-E6D2-4845-A6B1-D2431A15EC9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FA7F0838-7CEE-46BC-9462-6D7174B7761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时间差和同时事件距离共同构成 Galilei 结构。</a:t></a:r></a:p></p:txBody></p:sp><p:sp><p:nvSpPr><p:cNvPr id="11" name=""><a:extLst xmlns:a="http://schemas.openxmlformats.org/drawingml/2006/main"><a:ext uri="{FF2B5EF4-FFF2-40B4-BE49-F238E27FC236}"><a16:creationId id="{8F1FC7C5-2F2A-40CB-BB2A-81D7E7AD5FC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7.1"/><p:cNvSpPr txBox="1"/><p:nvPr/></p:nvSpPr><p:spPr><a:xfrm xmlns:a="http://schemas.openxmlformats.org/drawingml/2006/main"><a:off x="3395242" y="5314950" /><a:ext cx="5973015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ρ(a,b) = </m:t></m:r><m:rad><m:radPr><m:degHide m:val="1"/></m:radPr><m:deg/><m:e><m:r><a:rPr lang="en-US" sz="3200"><a:solidFill><a:srgbClr val="2854A0"/></a:solidFill><a:latin typeface="Cambria Math"/></a:rPr><m:t>⟨b−a,b−a⟩</m:t></m:r></m:e></m:rad></m:oMath></m:oMathPara></a14:m><a:endParaRPr lang="en-US"/></a:p></p:txBody></p:sp><p:sp><p:nvSpPr><p:cNvPr id="13" name=""><a:extLst xmlns:a="http://schemas.openxmlformats.org/drawingml/2006/main"><a:ext uri="{FF2B5EF4-FFF2-40B4-BE49-F238E27FC236}"><a16:creationId id="{F3A36866-793D-4DC4-8C45-299C647E6AD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pp. 5–6 · 课程资源包</a:t></a:r></a:p></p:txBody></p:sp><p:sp><p:nvSpPr><p:cNvPr id="14" name=""><a:extLst xmlns:a="http://schemas.openxmlformats.org/drawingml/2006/main"><a:ext uri="{FF2B5EF4-FFF2-40B4-BE49-F238E27FC236}"><a16:creationId id="{85733894-D8C5-4895-B5CA-C9F9F11084B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07 / 27</a:t></a:r></a:p></p:txBody></p:sp></p:spTree><p:extLst><p:ext uri="{BB962C8B-B14F-4D97-AF65-F5344CB8AC3E}"><p14:creationId val="1485112847" xmlns:p14="http://schemas.microsoft.com/office/powerpoint/2010/main" /></p:ext></p:extLst></p:cSld></p:sld>
</file>

<file path=ppt/slides/slide8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EFA9818B-904D-43FD-8CA4-3093AF3B13E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73A0635B-02B9-45E6-AA8F-081F66514C0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Galilei 变换保持什么</a:t></a:r></a:p></p:txBody></p:sp><p:sp><p:nvSpPr><p:cNvPr id="3" name=""><a:extLst xmlns:a="http://schemas.openxmlformats.org/drawingml/2006/main"><a:ext uri="{FF2B5EF4-FFF2-40B4-BE49-F238E27FC236}"><a16:creationId id="{4DBDB335-C360-43D1-84BB-D7F34D1F995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82D492F9-9E04-464D-B4FB-8441E343C13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保持时间差与同时事件的空间距离。</a:t></a:r></a:p></p:txBody></p:sp><p:sp><p:nvSpPr><p:cNvPr id="5" name=""><a:extLst xmlns:a="http://schemas.openxmlformats.org/drawingml/2006/main"><a:ext uri="{FF2B5EF4-FFF2-40B4-BE49-F238E27FC236}"><a16:creationId id="{EA0D8385-19BB-4C07-A5CE-B160254D95C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44993A46-B866-4A6E-86C2-1B5D050B17E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空间正交变换允许旋转，也包括反射。</a:t></a:r></a:p></p:txBody></p:sp><p:sp><p:nvSpPr><p:cNvPr id="7" name=""><a:extLst xmlns:a="http://schemas.openxmlformats.org/drawingml/2006/main"><a:ext uri="{FF2B5EF4-FFF2-40B4-BE49-F238E27FC236}"><a16:creationId id="{46E3D9FA-021E-4E27-AA6B-ED5C51543EF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98407C15-FB87-446B-9A7E-CF65A578892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再叠加时间与空间平移、匀速运动，得到一般坐标形式。</a:t></a:r></a:p></p:txBody></p:sp><p:sp><p:nvSpPr><p:cNvPr id="9" name=""><a:extLst xmlns:a="http://schemas.openxmlformats.org/drawingml/2006/main"><a:ext uri="{FF2B5EF4-FFF2-40B4-BE49-F238E27FC236}"><a16:creationId id="{F195C89B-B555-4DDA-AE82-C840CE6350B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A922E7E7-211B-4DAE-8899-A933DB41345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连续参数共有十个；正交群的离散分支不改变维数。</a:t></a:r></a:p></p:txBody></p:sp><p:sp><p:nvSpPr><p:cNvPr id="11" name=""><a:extLst xmlns:a="http://schemas.openxmlformats.org/drawingml/2006/main"><a:ext uri="{FF2B5EF4-FFF2-40B4-BE49-F238E27FC236}"><a16:creationId id="{3481315F-C643-4DB5-8BE3-ABA380697F1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8.1"/><p:cNvSpPr txBox="1"/><p:nvPr/></p:nvSpPr><p:spPr><a:xfrm xmlns:a="http://schemas.openxmlformats.org/drawingml/2006/main"><a:off x="1972424" y="5314950" /><a:ext cx="8818652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t′ = t+s,    x′ = Rx+vt+a</m:t></m:r></m:oMath></m:oMathPara></a14:m><a:endParaRPr lang="en-US"/></a:p></p:txBody></p:sp><p:sp><p:nvSpPr><p:cNvPr id="13" name=""><a:extLst xmlns:a="http://schemas.openxmlformats.org/drawingml/2006/main"><a:ext uri="{FF2B5EF4-FFF2-40B4-BE49-F238E27FC236}"><a16:creationId id="{D2BAE2D4-EEF3-4DA0-A293-5D6F68EAA32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p. 6 · 课程资源包</a:t></a:r></a:p></p:txBody></p:sp><p:sp><p:nvSpPr><p:cNvPr id="14" name=""><a:extLst xmlns:a="http://schemas.openxmlformats.org/drawingml/2006/main"><a:ext uri="{FF2B5EF4-FFF2-40B4-BE49-F238E27FC236}"><a16:creationId id="{DF314757-2B08-4ABA-BDB3-F0A2B48924A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08 / 27</a:t></a:r></a:p></p:txBody></p:sp></p:spTree><p:extLst><p:ext uri="{BB962C8B-B14F-4D97-AF65-F5344CB8AC3E}"><p14:creationId val="107071277" xmlns:p14="http://schemas.microsoft.com/office/powerpoint/2010/main" /></p:ext></p:extLst></p:cSld></p:sld>
</file>

<file path=ppt/slides/slide9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FC6E6F3A-DA04-4391-988C-9C0A5BF86E3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D9351053-6DDE-4026-934F-244E7F8175B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匀速变换改变速度，不改变加速度</a:t></a:r></a:p></p:txBody></p:sp><p:sp><p:nvSpPr><p:cNvPr id="3" name=""><a:extLst xmlns:a="http://schemas.openxmlformats.org/drawingml/2006/main"><a:ext uri="{FF2B5EF4-FFF2-40B4-BE49-F238E27FC236}"><a16:creationId id="{0140F028-910A-4C0B-8143-9BC55112E0B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695C42D2-B816-4C95-9385-3DAED436488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对同一运动作 Galilei 坐标变换时，要同时变换速度和加速度。</a:t></a:r></a:p></p:txBody></p:sp><p:sp><p:nvSpPr><p:cNvPr id="5" name=""><a:extLst xmlns:a="http://schemas.openxmlformats.org/drawingml/2006/main"><a:ext uri="{FF2B5EF4-FFF2-40B4-BE49-F238E27FC236}"><a16:creationId id="{A8E9CE02-F7E5-464A-BA32-62E6A7D1CA5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F4E404A6-40CE-4E76-A27F-B6202B51C17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匀速项给速度增加常向量。</a:t></a:r></a:p></p:txBody></p:sp><p:sp><p:nvSpPr><p:cNvPr id="7" name=""><a:extLst xmlns:a="http://schemas.openxmlformats.org/drawingml/2006/main"><a:ext uri="{FF2B5EF4-FFF2-40B4-BE49-F238E27FC236}"><a16:creationId id="{8E01410D-7D96-45A6-B3D9-2CDA0277205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E3A93761-0A14-4BC7-991F-58B0BCF3EFF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对时间再求导，这个常向量消失；加速度只受正交变换作用。</a:t></a:r></a:p></p:txBody></p:sp><p:sp><p:nvSpPr><p:cNvPr id="9" name=""><a:extLst xmlns:a="http://schemas.openxmlformats.org/drawingml/2006/main"><a:ext uri="{FF2B5EF4-FFF2-40B4-BE49-F238E27FC236}"><a16:creationId id="{890CE775-17E8-400F-9A29-3FEAD0F7A0B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CA4DC3D1-A768-4141-8727-BA48FCCE6DC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因此方程的协变形式能限制它对绝对速度的依赖。</a:t></a:r></a:p></p:txBody></p:sp><p:sp><p:nvSpPr><p:cNvPr id="11" name=""><a:extLst xmlns:a="http://schemas.openxmlformats.org/drawingml/2006/main"><a:ext uri="{FF2B5EF4-FFF2-40B4-BE49-F238E27FC236}"><a16:creationId id="{6AABB214-B312-4A5B-8E5E-215FD9F5437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9.1"/><p:cNvSpPr txBox="1"/><p:nvPr/></p:nvSpPr><p:spPr><a:xfrm xmlns:a="http://schemas.openxmlformats.org/drawingml/2006/main"><a:off x="2766103" y="5314950" /><a:ext cx="7231294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ẋ′ = Rẋ+v,    ẍ′ = Rẍ</m:t></m:r></m:oMath></m:oMathPara></a14:m><a:endParaRPr lang="en-US"/></a:p></p:txBody></p:sp><p:sp><p:nvSpPr><p:cNvPr id="13" name=""><a:extLst xmlns:a="http://schemas.openxmlformats.org/drawingml/2006/main"><a:ext uri="{FF2B5EF4-FFF2-40B4-BE49-F238E27FC236}"><a16:creationId id="{CD698ABB-B951-494A-88D9-4BEDAA99029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pp. 6, 9–10 · 课程资源包</a:t></a:r></a:p></p:txBody></p:sp><p:sp><p:nvSpPr><p:cNvPr id="14" name=""><a:extLst xmlns:a="http://schemas.openxmlformats.org/drawingml/2006/main"><a:ext uri="{FF2B5EF4-FFF2-40B4-BE49-F238E27FC236}"><a16:creationId id="{399FA94F-8B12-4F41-9681-063B1719A20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09 / 27</a:t></a:r></a:p></p:txBody></p:sp></p:spTree><p:extLst><p:ext uri="{BB962C8B-B14F-4D97-AF65-F5344CB8AC3E}"><p14:creationId val="270416029" xmlns:p14="http://schemas.microsoft.com/office/powerpoint/2010/main" /></p:ext></p:extLst></p:cSld></p:sld>
</file>

<file path=ppt/slides/slide10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5A9EE4F8-D06C-41CA-8EFD-87F75C472EA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B621D723-5A05-44EE-9B6B-5C60EEF97BB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运动、轨迹、世界线是三件事</a:t></a:r></a:p></p:txBody></p:sp><p:sp><p:nvSpPr><p:cNvPr id="3" name=""><a:extLst xmlns:a="http://schemas.openxmlformats.org/drawingml/2006/main"><a:ext uri="{FF2B5EF4-FFF2-40B4-BE49-F238E27FC236}"><a16:creationId id="{8B330AAD-1C7C-4ECE-B10C-8894D67D762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3B80FF91-AD13-400E-9C13-8F3E5D02216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运动包含时间参数；轨迹只记录空间中的像。</a:t></a:r></a:p></p:txBody></p:sp><p:sp><p:nvSpPr><p:cNvPr id="5" name=""><a:extLst xmlns:a="http://schemas.openxmlformats.org/drawingml/2006/main"><a:ext uri="{FF2B5EF4-FFF2-40B4-BE49-F238E27FC236}"><a16:creationId id="{45BE4991-C4D3-4718-8818-D8BE4F139BE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7646CB36-6E95-48EE-B9F2-785052C8D9A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同一条轨迹可由不同速度的运动走出。</a:t></a:r></a:p></p:txBody></p:sp><p:sp><p:nvSpPr><p:cNvPr id="7" name=""><a:extLst xmlns:a="http://schemas.openxmlformats.org/drawingml/2006/main"><a:ext uri="{FF2B5EF4-FFF2-40B4-BE49-F238E27FC236}"><a16:creationId id="{91304915-6CE2-4B02-99D9-501E1D91976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6AE387F9-095D-4EEC-890C-E4735D84ED5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世界线把时间也保留，因此记录“何时到达何处”。</a:t></a:r></a:p></p:txBody></p:sp><p:sp><p:nvSpPr><p:cNvPr id="9" name=""><a:extLst xmlns:a="http://schemas.openxmlformats.org/drawingml/2006/main"><a:ext uri="{FF2B5EF4-FFF2-40B4-BE49-F238E27FC236}"><a16:creationId id="{462F624D-ECB4-478B-A252-A4F54C096CF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B33D9AE5-B38B-4FBD-AC7F-F97C3DCF7D2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仅由一条几何曲线的形状，不能判断参数化运动是否光滑。</a:t></a:r></a:p></p:txBody></p:sp><p:sp><p:nvSpPr><p:cNvPr id="11" name=""><a:extLst xmlns:a="http://schemas.openxmlformats.org/drawingml/2006/main"><a:ext uri="{FF2B5EF4-FFF2-40B4-BE49-F238E27FC236}"><a16:creationId id="{5F1DCBEC-305F-4FFA-B342-D96475B0364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10.1"/><p:cNvSpPr txBox="1"/><p:nvPr/></p:nvSpPr><p:spPr><a:xfrm xmlns:a="http://schemas.openxmlformats.org/drawingml/2006/main"><a:off x="3124986" y="5314950" /><a:ext cx="6513529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x:I→ℝᴺ,    t↦x(t)</m:t></m:r></m:oMath></m:oMathPara></a14:m><a:endParaRPr lang="en-US"/></a:p></p:txBody></p:sp><p:sp><p:nvSpPr><p:cNvPr id="13" name=""><a:extLst xmlns:a="http://schemas.openxmlformats.org/drawingml/2006/main"><a:ext uri="{FF2B5EF4-FFF2-40B4-BE49-F238E27FC236}"><a16:creationId id="{17E42341-531F-47C6-B840-0B8C7A1D862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pp. 7–8 · 课程资源包</a:t></a:r></a:p></p:txBody></p:sp><p:sp><p:nvSpPr><p:cNvPr id="14" name=""><a:extLst xmlns:a="http://schemas.openxmlformats.org/drawingml/2006/main"><a:ext uri="{FF2B5EF4-FFF2-40B4-BE49-F238E27FC236}"><a16:creationId id="{8C3063AF-85E7-4656-A586-74656503566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10 / 27</a:t></a:r></a:p></p:txBody></p:sp></p:spTree><p:extLst><p:ext uri="{BB962C8B-B14F-4D97-AF65-F5344CB8AC3E}"><p14:creationId val="177851705" xmlns:p14="http://schemas.microsoft.com/office/powerpoint/2010/main" /></p:ext></p:extLst></p:cSld></p:sld>
</file>

<file path=ppt/slides/slide11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6" name=""><a:extLst xmlns:a="http://schemas.openxmlformats.org/drawingml/2006/main"><a:ext uri="{FF2B5EF4-FFF2-40B4-BE49-F238E27FC236}"><a16:creationId id="{34041813-D505-48D3-8DD5-BEBB403BCCC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B8602192-5D2E-4A78-BD21-72D874FE65D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加速度的切向与法向分量</a:t></a:r></a:p></p:txBody></p:sp><p:sp><p:nvSpPr><p:cNvPr id="3" name=""><a:extLst xmlns:a="http://schemas.openxmlformats.org/drawingml/2006/main"><a:ext uri="{FF2B5EF4-FFF2-40B4-BE49-F238E27FC236}"><a16:creationId id="{B8D0AC5B-8A18-4534-8C10-03529C8E45D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FDAFF17E-9108-494C-87E1-021C175A513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在正则曲线、弧长参数定义良好的位置，可分解加速度。</a:t></a:r></a:p></p:txBody></p:sp><p:sp><p:nvSpPr><p:cNvPr id="5" name=""><a:extLst xmlns:a="http://schemas.openxmlformats.org/drawingml/2006/main"><a:ext uri="{FF2B5EF4-FFF2-40B4-BE49-F238E27FC236}"><a16:creationId id="{A8772592-976E-4D86-93BA-A2380D89B1C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1CB15AFD-8D0E-4BEA-ADE8-498BB45F906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6096000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切向项改变速率；法向项由速度平方与曲率控制。</a:t></a:r></a:p></p:txBody></p:sp><p:sp><p:nvSpPr><p:cNvPr id="7" name=""><a:extLst xmlns:a="http://schemas.openxmlformats.org/drawingml/2006/main"><a:ext uri="{FF2B5EF4-FFF2-40B4-BE49-F238E27FC236}"><a16:creationId id="{CBA98778-5CAB-4454-AC1F-A56ABC7CF9E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E9BDA7BD-839E-40BD-943D-C540CDEFD47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6096000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法向项朝曲率中心，不可能任意指向曲率外侧。</a:t></a:r></a:p></p:txBody></p:sp><p:sp><p:nvSpPr><p:cNvPr id="9" name=""><a:extLst xmlns:a="http://schemas.openxmlformats.org/drawingml/2006/main"><a:ext uri="{FF2B5EF4-FFF2-40B4-BE49-F238E27FC236}"><a16:creationId id="{0C2DA9E6-A696-4C1E-948E-0DB4A709A07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4085E9BF-DB95-48B8-BBAF-780014008D9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6096000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速度为零或轨迹不正则时，不能未经检查地使用正则分解。</a:t></a:r></a:p></p:txBody></p:sp><p:sp><p:nvSpPr><p:cNvPr id="11" name=""><a:extLst xmlns:a="http://schemas.openxmlformats.org/drawingml/2006/main"><a:ext uri="{FF2B5EF4-FFF2-40B4-BE49-F238E27FC236}"><a16:creationId id="{31FC984D-311D-412E-A49A-F72D32F5560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11.1"/><p:cNvSpPr txBox="1"/><p:nvPr/></p:nvSpPr><p:spPr><a:xfrm xmlns:a="http://schemas.openxmlformats.org/drawingml/2006/main"><a:off x="3968990" y="5314950" /><a:ext cx="4825520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ẍ = s̈T+ṡ²κN</m:t></m:r></m:oMath></m:oMathPara></a14:m><a:endParaRPr lang="en-US"/></a:p></p:txBody></p:sp><p:pic><p:nvPicPr><p:cNvPr id="13" name=""><a:extLst xmlns:a="http://schemas.openxmlformats.org/drawingml/2006/main"><a:ext uri="{FF2B5EF4-FFF2-40B4-BE49-F238E27FC236}"><a16:creationId id="{5D7DB23C-F967-40E3-B1C7-24885F4F8D6A}" xmlns:a16="http://schemas.microsoft.com/office/drawing/2014/main" /></a:ext></a:extLst></p:cNvPr><p:cNvPicPr><a:picLocks noChangeAspect="1" xmlns:a="http://schemas.openxmlformats.org/drawingml/2006/main" /></p:cNvPicPr><p:nvPr /></p:nvPicPr><p:blipFill><a:blip r:embed="R646f5bfc8b6c4641" xmlns:r="http://schemas.openxmlformats.org/officeDocument/2006/relationships" xmlns:a="http://schemas.openxmlformats.org/drawingml/2006/main" /><a:stretch xmlns:a="http://schemas.openxmlformats.org/drawingml/2006/main" /></p:blipFill><p:spPr><a:xfrm xmlns:a="http://schemas.openxmlformats.org/drawingml/2006/main"><a:off x="8153400" y="2822845" /><a:ext cx="2952750" cy="1821910" /></a:xfrm><a:prstGeom prst="rect" xmlns:a="http://schemas.openxmlformats.org/drawingml/2006/main"><a:avLst /></a:prstGeom></p:spPr></p:pic><p:sp><p:nvSpPr><p:cNvPr id="14" name=""><a:extLst xmlns:a="http://schemas.openxmlformats.org/drawingml/2006/main"><a:ext uri="{FF2B5EF4-FFF2-40B4-BE49-F238E27FC236}"><a16:creationId id="{CBFE01F1-4768-43D6-A7B7-1209349A4DE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p. 7 · 课程资源包</a:t></a:r></a:p></p:txBody></p:sp><p:sp><p:nvSpPr><p:cNvPr id="15" name=""><a:extLst xmlns:a="http://schemas.openxmlformats.org/drawingml/2006/main"><a:ext uri="{FF2B5EF4-FFF2-40B4-BE49-F238E27FC236}"><a16:creationId id="{B987B6EF-B902-4F10-BFA4-BDFC33EF389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11 / 27</a:t></a:r></a:p></p:txBody></p:sp></p:spTree><p:extLst><p:ext uri="{BB962C8B-B14F-4D97-AF65-F5344CB8AC3E}"><p14:creationId val="661657467" xmlns:p14="http://schemas.microsoft.com/office/powerpoint/2010/main" /></p:ext></p:extLst></p:cSld></p:sld>
</file>

<file path=ppt/slides/slide12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6" name=""><a:extLst xmlns:a="http://schemas.openxmlformats.org/drawingml/2006/main"><a:ext uri="{FF2B5EF4-FFF2-40B4-BE49-F238E27FC236}"><a16:creationId id="{05BA7685-C40C-4205-A19B-6C52C32A150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6225285F-C32B-4EB3-9E32-9285CDE2125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构形与状态</a:t></a:r></a:p></p:txBody></p:sp><p:sp><p:nvSpPr><p:cNvPr id="3" name=""><a:extLst xmlns:a="http://schemas.openxmlformats.org/drawingml/2006/main"><a:ext uri="{FF2B5EF4-FFF2-40B4-BE49-F238E27FC236}"><a16:creationId id="{647883EF-9E26-488A-8D66-EA5A8778B55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6D397D6E-FE38-405C-ABC4-0B24268E9D9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对多个无约束质点，构形只给位置，状态还需要速度。</a:t></a:r></a:p></p:txBody></p:sp><p:sp><p:nvSpPr><p:cNvPr id="5" name=""><a:extLst xmlns:a="http://schemas.openxmlformats.org/drawingml/2006/main"><a:ext uri="{FF2B5EF4-FFF2-40B4-BE49-F238E27FC236}"><a16:creationId id="{B5534392-3502-4DB3-B63F-A2436CE0924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73A319A6-D2E8-4C6A-90C8-FC0F8F679BF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每个质点的空间位置由三个实数给出。</a:t></a:r></a:p></p:txBody></p:sp><p:sp><p:nvSpPr><p:cNvPr id="7" name=""><a:extLst xmlns:a="http://schemas.openxmlformats.org/drawingml/2006/main"><a:ext uri="{FF2B5EF4-FFF2-40B4-BE49-F238E27FC236}"><a16:creationId id="{F5CB9552-BBDB-4448-9A53-E1ADF5A58D8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546E19CF-C55E-439F-8236-5EC722BB6F0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把二阶 Newton 方程改写成一阶系统后，位置与速度一起演化。</a:t></a:r></a:p></p:txBody></p:sp><p:sp><p:nvSpPr><p:cNvPr id="9" name=""><a:extLst xmlns:a="http://schemas.openxmlformats.org/drawingml/2006/main"><a:ext uri="{FF2B5EF4-FFF2-40B4-BE49-F238E27FC236}"><a16:creationId id="{D4FD1A48-300D-467E-A852-0AC8DA0A582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8542284C-5AA8-465F-94A8-F180BD90591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初值问题的输入是某一时刻的完整状态。</a:t></a:r></a:p></p:txBody></p:sp><p:sp><p:nvSpPr><p:cNvPr id="11" name=""><a:extLst xmlns:a="http://schemas.openxmlformats.org/drawingml/2006/main"><a:ext uri="{FF2B5EF4-FFF2-40B4-BE49-F238E27FC236}"><a16:creationId id="{64D615B8-693B-458E-84A7-9A41D8148D0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12.1"/><p:cNvSpPr txBox="1"/><p:nvPr/></p:nvSpPr><p:spPr><a:xfrm xmlns:a="http://schemas.openxmlformats.org/drawingml/2006/main"><a:off x="2365358" y="5314950" /><a:ext cx="2984533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Q = (ℝ³)ⁿ</m:t></m:r></m:oMath></m:oMathPara></a14:m><a:endParaRPr lang="en-US"/></a:p></p:txBody></p:sp><p:sp><p:nvSpPr><p:cNvPr id="13" name="Native Equation 12.2"/><p:cNvSpPr txBox="1"/><p:nvPr/></p:nvSpPr><p:spPr><a:xfrm xmlns:a="http://schemas.openxmlformats.org/drawingml/2006/main"><a:off x="6457950" y="5451133" /><a:ext cx="4953000" cy="708709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ẋ = v,    v̇ = F(x,v,t)</m:t></m:r></m:oMath></m:oMathPara></a14:m><a:endParaRPr lang="en-US"/></a:p></p:txBody></p:sp><p:sp><p:nvSpPr><p:cNvPr id="14" name=""><a:extLst xmlns:a="http://schemas.openxmlformats.org/drawingml/2006/main"><a:ext uri="{FF2B5EF4-FFF2-40B4-BE49-F238E27FC236}"><a16:creationId id="{B6BDB21E-B62A-4E34-B36A-AA0A7A88637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p. 8 · 课程资源包</a:t></a:r></a:p></p:txBody></p:sp><p:sp><p:nvSpPr><p:cNvPr id="15" name=""><a:extLst xmlns:a="http://schemas.openxmlformats.org/drawingml/2006/main"><a:ext uri="{FF2B5EF4-FFF2-40B4-BE49-F238E27FC236}"><a16:creationId id="{772FACB7-50BE-4308-8A58-671FC47740B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12 / 27</a:t></a:r></a:p></p:txBody></p:sp></p:spTree><p:extLst><p:ext uri="{BB962C8B-B14F-4D97-AF65-F5344CB8AC3E}"><p14:creationId val="1887770553" xmlns:p14="http://schemas.microsoft.com/office/powerpoint/2010/main" /></p:ext></p:extLst></p:cSld></p:sld>
</file>

<file path=ppt/slides/slide13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A34DADC4-BA47-4B6D-8B88-F8DF0015564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8B3C93C9-A624-436B-91F2-8CCA49DC3FE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唯一性需要条件，也只先是局部结论</a:t></a:r></a:p></p:txBody></p:sp><p:sp><p:nvSpPr><p:cNvPr id="3" name=""><a:extLst xmlns:a="http://schemas.openxmlformats.org/drawingml/2006/main"><a:ext uri="{FF2B5EF4-FFF2-40B4-BE49-F238E27FC236}"><a16:creationId id="{0BD31DC8-D43E-4A59-B2CC-0C34285A990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4EFCE66A-D318-498D-B442-C1CABCA0173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物理上的确定性要求与微分方程的存在唯一性相配。</a:t></a:r></a:p></p:txBody></p:sp><p:sp><p:nvSpPr><p:cNvPr id="5" name=""><a:extLst xmlns:a="http://schemas.openxmlformats.org/drawingml/2006/main"><a:ext uri="{FF2B5EF4-FFF2-40B4-BE49-F238E27FC236}"><a16:creationId id="{D3F76551-25AE-414E-A1B6-8E2309A5A44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3A2C74E2-AEEC-45A9-8B79-83D3AC0BE6B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若右端在时间上连续、对状态局部 Lipschitz，则有局部唯一解。</a:t></a:r></a:p></p:txBody></p:sp><p:sp><p:nvSpPr><p:cNvPr id="7" name=""><a:extLst xmlns:a="http://schemas.openxmlformats.org/drawingml/2006/main"><a:ext uri="{FF2B5EF4-FFF2-40B4-BE49-F238E27FC236}"><a16:creationId id="{9D5CA3D7-0F04-4DD7-8601-BD4DBFF3AF8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C6DE699D-9232-4594-AFB3-239D3FBE0AF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“局部”指初始时刻附近某个时间区间。</a:t></a:r></a:p></p:txBody></p:sp><p:sp><p:nvSpPr><p:cNvPr id="9" name=""><a:extLst xmlns:a="http://schemas.openxmlformats.org/drawingml/2006/main"><a:ext uri="{FF2B5EF4-FFF2-40B4-BE49-F238E27FC236}"><a16:creationId id="{4E983691-29AE-4270-9A03-8AE7F98D474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C843622C-EF0F-4B86-9635-1250C0176A6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碰撞奇点、速度或位置爆破可能阻止全时间延拓。</a:t></a:r></a:p></p:txBody></p:sp><p:sp><p:nvSpPr><p:cNvPr id="11" name=""><a:extLst xmlns:a="http://schemas.openxmlformats.org/drawingml/2006/main"><a:ext uri="{FF2B5EF4-FFF2-40B4-BE49-F238E27FC236}"><a16:creationId id="{7CE4E5D3-9816-4FB2-8F4B-D62490E58DA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13.1"/><p:cNvSpPr txBox="1"/><p:nvPr/></p:nvSpPr><p:spPr><a:xfrm xmlns:a="http://schemas.openxmlformats.org/drawingml/2006/main"><a:off x="2953499" y="5314950" /><a:ext cx="6856502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ẋ = v,    v̇ = F(x,v,t)</m:t></m:r></m:oMath></m:oMathPara></a14:m><a:endParaRPr lang="en-US"/></a:p></p:txBody></p:sp><p:sp><p:nvSpPr><p:cNvPr id="13" name=""><a:extLst xmlns:a="http://schemas.openxmlformats.org/drawingml/2006/main"><a:ext uri="{FF2B5EF4-FFF2-40B4-BE49-F238E27FC236}"><a16:creationId id="{C33D935F-A3A9-4D1B-98E3-8AB4E769ADD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p. 8 footnote 8 · 课程资源包</a:t></a:r></a:p></p:txBody></p:sp><p:sp><p:nvSpPr><p:cNvPr id="14" name=""><a:extLst xmlns:a="http://schemas.openxmlformats.org/drawingml/2006/main"><a:ext uri="{FF2B5EF4-FFF2-40B4-BE49-F238E27FC236}"><a16:creationId id="{9BCF011A-5CB5-4DDD-A094-B57A6F5F40D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13 / 27</a:t></a:r></a:p></p:txBody></p:sp></p:spTree><p:extLst><p:ext uri="{BB962C8B-B14F-4D97-AF65-F5344CB8AC3E}"><p14:creationId val="40383659" xmlns:p14="http://schemas.microsoft.com/office/powerpoint/2010/main" /></p:ext></p:extLst></p:cSld></p:sld>
</file>

<file path=ppt/slides/slide14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1C10FCCF-7B2A-493C-BE7C-7F18E1490D9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8E221E1B-2E5F-4630-B8E9-9EA24599780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对称性先约束封闭系统</a:t></a:r></a:p></p:txBody></p:sp><p:sp><p:nvSpPr><p:cNvPr id="3" name=""><a:extLst xmlns:a="http://schemas.openxmlformats.org/drawingml/2006/main"><a:ext uri="{FF2B5EF4-FFF2-40B4-BE49-F238E27FC236}"><a16:creationId id="{F4EAEE02-B3AD-4AFA-B1C7-841AB4F9573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946FE824-8FC4-4CBE-8007-4FAC5A2B2B0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原书的相对性论证面向封闭的力学系统。</a:t></a:r></a:p></p:txBody></p:sp><p:sp><p:nvSpPr><p:cNvPr id="5" name=""><a:extLst xmlns:a="http://schemas.openxmlformats.org/drawingml/2006/main"><a:ext uri="{FF2B5EF4-FFF2-40B4-BE49-F238E27FC236}"><a16:creationId id="{ED4370F0-4746-4F27-96C6-EF345439153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47F58519-56A0-4478-A9AA-73B3C9408CE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时间平移不变性排除方程右端对时间的显含。</a:t></a:r></a:p></p:txBody></p:sp><p:sp><p:nvSpPr><p:cNvPr id="7" name=""><a:extLst xmlns:a="http://schemas.openxmlformats.org/drawingml/2006/main"><a:ext uri="{FF2B5EF4-FFF2-40B4-BE49-F238E27FC236}"><a16:creationId id="{E64C89C9-812B-45DE-9752-1D3D95D6311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C84A11AA-975E-4C22-8B05-B739FF4E394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空间平移和匀速变换使相对位置、相对速度成为自然变量。</a:t></a:r></a:p></p:txBody></p:sp><p:sp><p:nvSpPr><p:cNvPr id="9" name=""><a:extLst xmlns:a="http://schemas.openxmlformats.org/drawingml/2006/main"><a:ext uri="{FF2B5EF4-FFF2-40B4-BE49-F238E27FC236}"><a16:creationId id="{040CECDF-AABC-4C5F-AC36-F1567037BB9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7A88EAEE-13C0-4CE7-BE30-0917B45ABD5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若只研究开放子系统，外界影响可产生显含时间或优选方向。</a:t></a:r></a:p></p:txBody></p:sp><p:sp><p:nvSpPr><p:cNvPr id="11" name=""><a:extLst xmlns:a="http://schemas.openxmlformats.org/drawingml/2006/main"><a:ext uri="{FF2B5EF4-FFF2-40B4-BE49-F238E27FC236}"><a16:creationId id="{4B654A6F-39C6-4C76-BB2A-FF7F122484C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14.1"/><p:cNvSpPr txBox="1"/><p:nvPr/></p:nvSpPr><p:spPr><a:xfrm xmlns:a="http://schemas.openxmlformats.org/drawingml/2006/main"><a:off x="3347262" y="5314950" /><a:ext cx="6068976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xⱼ−xₖ,    ẋⱼ−ẋₖ</m:t></m:r></m:oMath></m:oMathPara></a14:m><a:endParaRPr lang="en-US"/></a:p></p:txBody></p:sp><p:sp><p:nvSpPr><p:cNvPr id="13" name=""><a:extLst xmlns:a="http://schemas.openxmlformats.org/drawingml/2006/main"><a:ext uri="{FF2B5EF4-FFF2-40B4-BE49-F238E27FC236}"><a16:creationId id="{82E66ADE-0E4A-447D-8DCD-56AAA5872BA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pp. 9–10 · 课程资源包</a:t></a:r></a:p></p:txBody></p:sp><p:sp><p:nvSpPr><p:cNvPr id="14" name=""><a:extLst xmlns:a="http://schemas.openxmlformats.org/drawingml/2006/main"><a:ext uri="{FF2B5EF4-FFF2-40B4-BE49-F238E27FC236}"><a16:creationId id="{42343912-30C5-4961-B119-2CB2B524E0A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14 / 27</a:t></a:r></a:p></p:txBody></p:sp></p:spTree><p:extLst><p:ext uri="{BB962C8B-B14F-4D97-AF65-F5344CB8AC3E}"><p14:creationId val="831414662" xmlns:p14="http://schemas.microsoft.com/office/powerpoint/2010/main" /></p:ext></p:extLst></p:cSld></p:sld>
</file>

<file path=ppt/slides/slide15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42E6E408-DB28-4C58-92A3-90BEE200568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DC295C7A-6230-4DD5-B769-2DB420C1247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正交变换的等变性</a:t></a:r></a:p></p:txBody></p:sp><p:sp><p:nvSpPr><p:cNvPr id="3" name=""><a:extLst xmlns:a="http://schemas.openxmlformats.org/drawingml/2006/main"><a:ext uri="{FF2B5EF4-FFF2-40B4-BE49-F238E27FC236}"><a16:creationId id="{E6BFB38E-D477-4040-9B96-5804C0D0D77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975E3544-3E30-4830-932C-96595434DDF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“旋转后仍是解”可写成力函数的等变条件。</a:t></a:r></a:p></p:txBody></p:sp><p:sp><p:nvSpPr><p:cNvPr id="5" name=""><a:extLst xmlns:a="http://schemas.openxmlformats.org/drawingml/2006/main"><a:ext uri="{FF2B5EF4-FFF2-40B4-BE49-F238E27FC236}"><a16:creationId id="{99CBF98A-A656-4DF6-8E33-03744E6CCA1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1D38B4D5-E0B7-4221-9965-7A9EC9F768A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先把所有质点的位置、速度一起作同一正交变换。</a:t></a:r></a:p></p:txBody></p:sp><p:sp><p:nvSpPr><p:cNvPr id="7" name=""><a:extLst xmlns:a="http://schemas.openxmlformats.org/drawingml/2006/main"><a:ext uri="{FF2B5EF4-FFF2-40B4-BE49-F238E27FC236}"><a16:creationId id="{DD95DBDC-4145-4E10-B176-6DB57DA6F6D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C2095F7E-E160-48C3-BF3E-FA74E3F78C5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新力向量必须随之变换；镜像反射也包括在本章模型内。</a:t></a:r></a:p></p:txBody></p:sp><p:sp><p:nvSpPr><p:cNvPr id="9" name=""><a:extLst xmlns:a="http://schemas.openxmlformats.org/drawingml/2006/main"><a:ext uri="{FF2B5EF4-FFF2-40B4-BE49-F238E27FC236}"><a16:creationId id="{60444489-B2DD-49A6-A8DE-6A2FA8151E8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B7BFC35A-E9CD-4373-961C-7D702C401E3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不能把本章假设外推为所有物理相互作用都满足宇称不变。</a:t></a:r></a:p></p:txBody></p:sp><p:sp><p:nvSpPr><p:cNvPr id="11" name=""><a:extLst xmlns:a="http://schemas.openxmlformats.org/drawingml/2006/main"><a:ext uri="{FF2B5EF4-FFF2-40B4-BE49-F238E27FC236}"><a16:creationId id="{C7CC95F2-B757-4D63-A897-546B30F6ED3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15.1"/><p:cNvSpPr txBox="1"/><p:nvPr/></p:nvSpPr><p:spPr><a:xfrm xmlns:a="http://schemas.openxmlformats.org/drawingml/2006/main"><a:off x="3168454" y="5314950" /><a:ext cx="6426592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F(Rx,Rẋ) = RF(x,ẋ)</m:t></m:r></m:oMath></m:oMathPara></a14:m><a:endParaRPr lang="en-US"/></a:p></p:txBody></p:sp><p:sp><p:nvSpPr><p:cNvPr id="13" name=""><a:extLst xmlns:a="http://schemas.openxmlformats.org/drawingml/2006/main"><a:ext uri="{FF2B5EF4-FFF2-40B4-BE49-F238E27FC236}"><a16:creationId id="{C23D0F8B-DA2C-4E6B-8FFD-FD4191678CE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p. 10 · 课程资源包</a:t></a:r></a:p></p:txBody></p:sp><p:sp><p:nvSpPr><p:cNvPr id="14" name=""><a:extLst xmlns:a="http://schemas.openxmlformats.org/drawingml/2006/main"><a:ext uri="{FF2B5EF4-FFF2-40B4-BE49-F238E27FC236}"><a16:creationId id="{04720841-CACA-463C-969B-74A6F9F3464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15 / 27</a:t></a:r></a:p></p:txBody></p:sp></p:spTree><p:extLst><p:ext uri="{BB962C8B-B14F-4D97-AF65-F5344CB8AC3E}"><p14:creationId val="590671905" xmlns:p14="http://schemas.microsoft.com/office/powerpoint/2010/main" /></p:ext></p:extLst></p:cSld>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C0E5C-BAB0-4C85-A47F-10EBA0A8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06DB2-6386-429B-B4B5-4189AD4C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初值被对称变换固定时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73329-21C8-42EE-AA07-94BA7EE4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13BBF-1E2C-41AA-81E1-A84BB65F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“变换后的解也是解”与唯一性配合，给出不变子空间。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65D7E-85E8-4803-8823-1111C7A1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8DDAE-7FAB-48A3-B3DB-0682C8F9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若一个对称变换保持初始位置和速度，它作用后的运动有同一初值。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B1E5E-C781-4899-BC1F-29DCA64A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5F97B-377C-429D-BE2C-8A48ED00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在解存在且唯一的时间区间内，两条运动必相同。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9CC9C-C85E-4D77-BAA2-25D035EC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21954-9832-4AEE-AAF9-ABF0C886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所以运动始终位于该变换的固定点集合。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6463C-8F09-407F-8091-59BF2CE9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10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C478A-845C-4138-BC80-ACE7955E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16 / 27</a:t>
            </a:r>
          </a:p>
        </p:txBody>
      </p:sp>
    </p:spTree>
    <p:extLst>
      <p:ext uri="{BB962C8B-B14F-4D97-AF65-F5344CB8AC3E}">
        <p14:creationId xmlns:p14="http://schemas.microsoft.com/office/powerpoint/2010/main" val="1013752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7155E-FBE9-43ED-B60D-C2B9EB8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B0B6E-36E0-4C73-8280-A8203A2D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例子：两质点留在初始连线上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7410F-57E3-4099-B074-62441B97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FD5C0-D36C-4234-8998-70D80174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条件是两个质点在某惯性系中的初速度都为零。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A3F59-E8CB-414D-8221-7B1F3E49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0C535-9E6F-4BD0-BF68-186F6EE5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绕初始连线的任何空间旋转都固定初始位置和零速度。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6667D-815E-4A2F-A561-B418D0F2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00119-E774-4801-BDCD-D41D9EBE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旋转后的解与原解同初值，因此由唯一性相同。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63948-6FAB-4EAF-8CDA-6768A356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83C3D-2EC8-4A47-99A9-9346ABF7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所有这些旋转共同固定的点就在初始连线上。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E3663-8C5A-44B4-A490-3489AB7C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10, problem p010-2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C549D-6CE4-4C6A-9DCC-247451C5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17 / 27</a:t>
            </a:r>
          </a:p>
        </p:txBody>
      </p:sp>
    </p:spTree>
    <p:extLst>
      <p:ext uri="{BB962C8B-B14F-4D97-AF65-F5344CB8AC3E}">
        <p14:creationId xmlns:p14="http://schemas.microsoft.com/office/powerpoint/2010/main" val="2049594896"/>
      </p:ext>
    </p:extLst>
  </p:cSld>
</p:sld>
</file>

<file path=ppt/slides/slide18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E0C1E7D0-DE09-476F-BE08-DE15BC34FC7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14653441-AAAA-4B68-95EA-3B32BE84D31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保守力由势能梯度给出</a:t></a:r></a:p></p:txBody></p:sp><p:sp><p:nvSpPr><p:cNvPr id="3" name=""><a:extLst xmlns:a="http://schemas.openxmlformats.org/drawingml/2006/main"><a:ext uri="{FF2B5EF4-FFF2-40B4-BE49-F238E27FC236}"><a16:creationId id="{8818C325-495A-4A38-9419-3DEB23A823C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0C3C24C1-D15E-431A-94A8-E5FDAD99387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对正质量的多质点系统，势能是构形上的函数。</a:t></a:r></a:p></p:txBody></p:sp><p:sp><p:nvSpPr><p:cNvPr id="5" name=""><a:extLst xmlns:a="http://schemas.openxmlformats.org/drawingml/2006/main"><a:ext uri="{FF2B5EF4-FFF2-40B4-BE49-F238E27FC236}"><a16:creationId id="{0840DEE8-1B84-409C-A773-B84D011FD5B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F228048C-93CB-4556-BC85-409DDA03B08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每个质点的力等于势能对该质点位置的负梯度。</a:t></a:r></a:p></p:txBody></p:sp><p:sp><p:nvSpPr><p:cNvPr id="7" name=""><a:extLst xmlns:a="http://schemas.openxmlformats.org/drawingml/2006/main"><a:ext uri="{FF2B5EF4-FFF2-40B4-BE49-F238E27FC236}"><a16:creationId id="{F8555573-9074-4089-9B85-1652AB46615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A1F2E1BD-EBCB-44A0-A917-70C8A9DF070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给势能加常数不改变力，也不改变运动。</a:t></a:r></a:p></p:txBody></p:sp><p:sp><p:nvSpPr><p:cNvPr id="9" name=""><a:extLst xmlns:a="http://schemas.openxmlformats.org/drawingml/2006/main"><a:ext uri="{FF2B5EF4-FFF2-40B4-BE49-F238E27FC236}"><a16:creationId id="{64CD3679-0B89-4590-A0E8-CDF00B4E1C5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D5614936-FCBD-4F1C-9658-0EB06CB1956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势能在碰撞等奇点处可能不光滑；方程只在其定义域内使用。</a:t></a:r></a:p></p:txBody></p:sp><p:sp><p:nvSpPr><p:cNvPr id="11" name=""><a:extLst xmlns:a="http://schemas.openxmlformats.org/drawingml/2006/main"><a:ext uri="{FF2B5EF4-FFF2-40B4-BE49-F238E27FC236}"><a16:creationId id="{7654D4C7-7081-4CAF-A07B-7FDB3948AF7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18.1"/><p:cNvSpPr txBox="1"/><p:nvPr/></p:nvSpPr><p:spPr><a:xfrm xmlns:a="http://schemas.openxmlformats.org/drawingml/2006/main"><a:off x="4056025" y="5314950" /><a:ext cx="4651450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mᵢẍᵢ = −∇ₓᵢU</m:t></m:r></m:oMath></m:oMathPara></a14:m><a:endParaRPr lang="en-US"/></a:p></p:txBody></p:sp><p:sp><p:nvSpPr><p:cNvPr id="13" name=""><a:extLst xmlns:a="http://schemas.openxmlformats.org/drawingml/2006/main"><a:ext uri="{FF2B5EF4-FFF2-40B4-BE49-F238E27FC236}"><a16:creationId id="{2EF85785-1FF8-4AA3-B62F-A4CCC19660E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pp. 13–14 · 课程资源包</a:t></a:r></a:p></p:txBody></p:sp><p:sp><p:nvSpPr><p:cNvPr id="14" name=""><a:extLst xmlns:a="http://schemas.openxmlformats.org/drawingml/2006/main"><a:ext uri="{FF2B5EF4-FFF2-40B4-BE49-F238E27FC236}"><a16:creationId id="{6427C127-898D-4044-8B50-259E031EA5F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18 / 27</a:t></a:r></a:p></p:txBody></p:sp></p:spTree><p:extLst><p:ext uri="{BB962C8B-B14F-4D97-AF65-F5344CB8AC3E}"><p14:creationId val="650085044" xmlns:p14="http://schemas.microsoft.com/office/powerpoint/2010/main" /></p:ext></p:extLst></p:cSld></p:sld>
</file>

<file path=ppt/slides/slide19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D4046CEE-AE80-43CB-BB21-2988B15298B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587C2DD6-1258-40CD-B0BC-E3EB168BE0C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能量守恒要说明假设</a:t></a:r></a:p></p:txBody></p:sp><p:sp><p:nvSpPr><p:cNvPr id="3" name=""><a:extLst xmlns:a="http://schemas.openxmlformats.org/drawingml/2006/main"><a:ext uri="{FF2B5EF4-FFF2-40B4-BE49-F238E27FC236}"><a16:creationId id="{AAB2B80D-7D98-499D-8BF8-15586274B9D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AB612BDF-D4BF-4118-92F7-74F97F82291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在无显含时间的保守系统中，动能与势能之和不变。</a:t></a:r></a:p></p:txBody></p:sp><p:sp><p:nvSpPr><p:cNvPr id="5" name=""><a:extLst xmlns:a="http://schemas.openxmlformats.org/drawingml/2006/main"><a:ext uri="{FF2B5EF4-FFF2-40B4-BE49-F238E27FC236}"><a16:creationId id="{899B0A0C-9B98-450C-8CFD-28D9DF88C27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84AC9E5D-2FD1-482C-96D1-64DCEB17CCA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沿解求导，动能变化率与力所做功相抵消。</a:t></a:r></a:p></p:txBody></p:sp><p:sp><p:nvSpPr><p:cNvPr id="7" name=""><a:extLst xmlns:a="http://schemas.openxmlformats.org/drawingml/2006/main"><a:ext uri="{FF2B5EF4-FFF2-40B4-BE49-F238E27FC236}"><a16:creationId id="{2CCF5E4A-7210-4951-801A-047A2D4B7A2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E107CD11-9399-483B-BD90-A01C84208B7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如果力有耗散项或势能显含时间，不能直接使用这条守恒式。</a:t></a:r></a:p></p:txBody></p:sp><p:sp><p:nvSpPr><p:cNvPr id="9" name=""><a:extLst xmlns:a="http://schemas.openxmlformats.org/drawingml/2006/main"><a:ext uri="{FF2B5EF4-FFF2-40B4-BE49-F238E27FC236}"><a16:creationId id="{A18B8115-366E-4A84-84A3-DC06E30904D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41155496-C684-44C0-B64D-2859B89C8CB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后面的逃逸速度就是用单位质量能量来判别。</a:t></a:r></a:p></p:txBody></p:sp><p:sp><p:nvSpPr><p:cNvPr id="11" name=""><a:extLst xmlns:a="http://schemas.openxmlformats.org/drawingml/2006/main"><a:ext uri="{FF2B5EF4-FFF2-40B4-BE49-F238E27FC236}"><a16:creationId id="{2DA84B22-7E78-45C0-B8CE-376F0FDFFEC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19.1"/><p:cNvSpPr txBox="1"/><p:nvPr/></p:nvSpPr><p:spPr><a:xfrm xmlns:a="http://schemas.openxmlformats.org/drawingml/2006/main"><a:off x="4499386" y="5314950" /><a:ext cx="3764728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E = ∑ᵢ </m:t></m:r><m:f><m:fPr><m:type m:val="bar"/></m:fPr><m:num><m:r><a:rPr lang="en-US" sz="3200"><a:solidFill><a:srgbClr val="2854A0"/></a:solidFill><a:latin typeface="Cambria Math"/></a:rPr><m:t>mᵢ‖ẋᵢ‖²</m:t></m:r></m:num><m:den><m:r><a:rPr lang="en-US" sz="3200"><a:solidFill><a:srgbClr val="2854A0"/></a:solidFill><a:latin typeface="Cambria Math"/></a:rPr><m:t>2</m:t></m:r></m:den></m:f><m:r><a:rPr lang="en-US" sz="3200"><a:solidFill><a:srgbClr val="2854A0"/></a:solidFill><a:latin typeface="Cambria Math"/></a:rPr><m:t> + U(x)</m:t></m:r></m:oMath></m:oMathPara></a14:m><a:endParaRPr lang="en-US"/></a:p></p:txBody></p:sp><p:sp><p:nvSpPr><p:cNvPr id="13" name=""><a:extLst xmlns:a="http://schemas.openxmlformats.org/drawingml/2006/main"><a:ext uri="{FF2B5EF4-FFF2-40B4-BE49-F238E27FC236}"><a16:creationId id="{4C5B50BC-3809-4B7A-8194-D6D506C7D00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pp. 12–14 · 课程资源包</a:t></a:r></a:p></p:txBody></p:sp><p:sp><p:nvSpPr><p:cNvPr id="14" name=""><a:extLst xmlns:a="http://schemas.openxmlformats.org/drawingml/2006/main"><a:ext uri="{FF2B5EF4-FFF2-40B4-BE49-F238E27FC236}"><a16:creationId id="{55141DB2-E6A2-48A1-9856-70B708ED183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19 / 27</a:t></a:r></a:p></p:txBody></p:sp></p:spTree><p:extLst><p:ext uri="{BB962C8B-B14F-4D97-AF65-F5344CB8AC3E}"><p14:creationId val="1017673152" xmlns:p14="http://schemas.microsoft.com/office/powerpoint/2010/main" /></p:ext></p:extLst></p:cSld></p:sld>
</file>

<file path=ppt/slides/slide20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DBA21914-71CD-4156-A5D6-EAA76CBCB1E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1B5F8B37-7084-4E32-AA44-67527768F8D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三个势能模型不可混为一谈</a:t></a:r></a:p></p:txBody></p:sp><p:sp><p:nvSpPr><p:cNvPr id="3" name=""><a:extLst xmlns:a="http://schemas.openxmlformats.org/drawingml/2006/main"><a:ext uri="{FF2B5EF4-FFF2-40B4-BE49-F238E27FC236}"><a16:creationId id="{4AFAF375-43A2-4132-A3AA-F23DAD430DF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352B6E5C-1738-46AD-AE8D-1F122C376AC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坐标、近似范围和质量约定必须与势能一起给出。</a:t></a:r></a:p></p:txBody></p:sp><p:sp><p:nvSpPr><p:cNvPr id="5" name=""><a:extLst xmlns:a="http://schemas.openxmlformats.org/drawingml/2006/main"><a:ext uri="{FF2B5EF4-FFF2-40B4-BE49-F238E27FC236}"><a16:creationId id="{603E079D-CEAA-431C-9A47-3BA0E8DA372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1DD468D6-43CE-4C91-90D7-8F0E3E673DA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近地竖直运动：高度向上，单位质量势能随高度线性增加。</a:t></a:r></a:p></p:txBody></p:sp><p:sp><p:nvSpPr><p:cNvPr id="7" name=""><a:extLst xmlns:a="http://schemas.openxmlformats.org/drawingml/2006/main"><a:ext uri="{FF2B5EF4-FFF2-40B4-BE49-F238E27FC236}"><a16:creationId id="{AC0C4FFD-222A-4A16-8661-EB9687D6B0D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F46E12A0-4E51-402C-93A1-9B9C2E88FB6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小伸长弹簧：单位质量势能为位移的二次函数。</a:t></a:r></a:p></p:txBody></p:sp><p:sp><p:nvSpPr><p:cNvPr id="9" name=""><a:extLst xmlns:a="http://schemas.openxmlformats.org/drawingml/2006/main"><a:ext uri="{FF2B5EF4-FFF2-40B4-BE49-F238E27FC236}"><a16:creationId id="{2E3E4D46-A7B5-4ACD-AF22-E9F98A1BA95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48099902-3655-4E5B-A8B8-66C688E08DE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远离地表的逆平方引力：半径从地心量起，势能趋于零。</a:t></a:r></a:p></p:txBody></p:sp><p:sp><p:nvSpPr><p:cNvPr id="11" name=""><a:extLst xmlns:a="http://schemas.openxmlformats.org/drawingml/2006/main"><a:ext uri="{FF2B5EF4-FFF2-40B4-BE49-F238E27FC236}"><a16:creationId id="{18014AB0-65CA-4434-8ACF-602BA9EB937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20.1"/><p:cNvSpPr txBox="1"/><p:nvPr/></p:nvSpPr><p:spPr><a:xfrm xmlns:a="http://schemas.openxmlformats.org/drawingml/2006/main"><a:off x="3409857" y="5314950" /><a:ext cx="5943786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Uₙₑₐᵣ(z) = gz,    Uₛₚᵣᵢₙg(x) = </m:t></m:r><m:f><m:fPr><m:type m:val="bar"/></m:fPr><m:num><m:r><a:rPr lang="en-US" sz="3200"><a:solidFill><a:srgbClr val="2854A0"/></a:solidFill><a:latin typeface="Cambria Math"/></a:rPr><m:t>α²x²</m:t></m:r></m:num><m:den><m:r><a:rPr lang="en-US" sz="3200"><a:solidFill><a:srgbClr val="2854A0"/></a:solidFill><a:latin typeface="Cambria Math"/></a:rPr><m:t>2</m:t></m:r></m:den></m:f></m:oMath></m:oMathPara></a14:m><a:endParaRPr lang="en-US"/></a:p></p:txBody></p:sp><p:sp><p:nvSpPr><p:cNvPr id="13" name=""><a:extLst xmlns:a="http://schemas.openxmlformats.org/drawingml/2006/main"><a:ext uri="{FF2B5EF4-FFF2-40B4-BE49-F238E27FC236}"><a16:creationId id="{006F3FF6-70D1-40F9-8B3A-116033919C3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pp. 11–13 · 课程资源包</a:t></a:r></a:p></p:txBody></p:sp><p:sp><p:nvSpPr><p:cNvPr id="14" name=""><a:extLst xmlns:a="http://schemas.openxmlformats.org/drawingml/2006/main"><a:ext uri="{FF2B5EF4-FFF2-40B4-BE49-F238E27FC236}"><a16:creationId id="{A3C5ADDA-FA5C-4B12-A711-839DC65DA49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20 / 27</a:t></a:r></a:p></p:txBody></p:sp></p:spTree><p:extLst><p:ext uri="{BB962C8B-B14F-4D97-AF65-F5344CB8AC3E}"><p14:creationId val="298774551" xmlns:p14="http://schemas.microsoft.com/office/powerpoint/2010/main" /></p:ext></p:extLst></p:cSld></p:sld>
</file>

<file path=ppt/slides/slide21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6" name=""><a:extLst xmlns:a="http://schemas.openxmlformats.org/drawingml/2006/main"><a:ext uri="{FF2B5EF4-FFF2-40B4-BE49-F238E27FC236}"><a16:creationId id="{A9D37AE6-3488-4736-8991-321397B9733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E3D66A6B-3ABD-484C-8BCC-66BBA80354E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逃逸题：先确定模型和零势能</a:t></a:r></a:p></p:txBody></p:sp><p:sp><p:nvSpPr><p:cNvPr id="3" name=""><a:extLst xmlns:a="http://schemas.openxmlformats.org/drawingml/2006/main"><a:ext uri="{FF2B5EF4-FFF2-40B4-BE49-F238E27FC236}"><a16:creationId id="{46674720-C1F8-43C6-BEDB-8EE7CEC129F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AF31BC2D-790E-407F-8BDA-13AD92EDD29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只考虑地球逆平方引力，石块沿径向向外抛出。</a:t></a:r></a:p></p:txBody></p:sp><p:sp><p:nvSpPr><p:cNvPr id="5" name=""><a:extLst xmlns:a="http://schemas.openxmlformats.org/drawingml/2006/main"><a:ext uri="{FF2B5EF4-FFF2-40B4-BE49-F238E27FC236}"><a16:creationId id="{9B04DF3E-E147-4BAF-AFDE-D7D765875641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4A261766-C0AE-4564-9903-E4AF8090185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把引力势能在无穷远处规定为零。</a:t></a:r></a:p></p:txBody></p:sp><p:sp><p:nvSpPr><p:cNvPr id="7" name=""><a:extLst xmlns:a="http://schemas.openxmlformats.org/drawingml/2006/main"><a:ext uri="{FF2B5EF4-FFF2-40B4-BE49-F238E27FC236}"><a16:creationId id="{28505728-26EA-4E49-960C-5538435E310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000DFF86-5064-4340-B0DA-CBE38422337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表面重力加速度给出引力参数和地球半径的关系。</a:t></a:r></a:p></p:txBody></p:sp><p:sp><p:nvSpPr><p:cNvPr id="9" name=""><a:extLst xmlns:a="http://schemas.openxmlformats.org/drawingml/2006/main"><a:ext uri="{FF2B5EF4-FFF2-40B4-BE49-F238E27FC236}"><a16:creationId id="{6C618E0A-D430-470F-BEE0-228A23838F6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49039ABD-57ED-455D-8031-63112435385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所用的是单位质量能量，因而质量在最后结果中消去。</a:t></a:r></a:p></p:txBody></p:sp><p:sp><p:nvSpPr><p:cNvPr id="11" name=""><a:extLst xmlns:a="http://schemas.openxmlformats.org/drawingml/2006/main"><a:ext uri="{FF2B5EF4-FFF2-40B4-BE49-F238E27FC236}"><a16:creationId id="{B13A302E-D576-44AA-BA52-8BE79D548DA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21.1"/><p:cNvSpPr txBox="1"/><p:nvPr/></p:nvSpPr><p:spPr><a:xfrm xmlns:a="http://schemas.openxmlformats.org/drawingml/2006/main"><a:off x="1779470" y="5314950" /><a:ext cx="4156311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U(r) = −</m:t></m:r><m:f><m:fPr><m:type m:val="bar"/></m:fPr><m:num><m:r><a:rPr lang="en-US" sz="3200"><a:solidFill><a:srgbClr val="2854A0"/></a:solidFill><a:latin typeface="Cambria Math"/></a:rPr><m:t>k</m:t></m:r></m:num><m:den><m:r><a:rPr lang="en-US" sz="3200"><a:solidFill><a:srgbClr val="2854A0"/></a:solidFill><a:latin typeface="Cambria Math"/></a:rPr><m:t>r</m:t></m:r></m:den></m:f><m:r><a:rPr lang="en-US" sz="3200"><a:solidFill><a:srgbClr val="2854A0"/></a:solidFill><a:latin typeface="Cambria Math"/></a:rPr><m:t>,    k = gr₀²</m:t></m:r></m:oMath></m:oMathPara></a14:m><a:endParaRPr lang="en-US"/></a:p></p:txBody></p:sp><p:sp><p:nvSpPr><p:cNvPr id="13" name="Native Equation 21.2"/><p:cNvSpPr txBox="1"/><p:nvPr/></p:nvSpPr><p:spPr><a:xfrm xmlns:a="http://schemas.openxmlformats.org/drawingml/2006/main"><a:off x="7516988" y="5314950" /><a:ext cx="2834925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E(r,ṙ) = </m:t></m:r><m:f><m:fPr><m:type m:val="bar"/></m:fPr><m:num><m:r><a:rPr lang="en-US" sz="3200"><a:solidFill><a:srgbClr val="2854A0"/></a:solidFill><a:latin typeface="Cambria Math"/></a:rPr><m:t>ṙ²</m:t></m:r></m:num><m:den><m:r><a:rPr lang="en-US" sz="3200"><a:solidFill><a:srgbClr val="2854A0"/></a:solidFill><a:latin typeface="Cambria Math"/></a:rPr><m:t>2</m:t></m:r></m:den></m:f><m:r><a:rPr lang="en-US" sz="3200"><a:solidFill><a:srgbClr val="2854A0"/></a:solidFill><a:latin typeface="Cambria Math"/></a:rPr><m:t> − </m:t></m:r><m:f><m:fPr><m:type m:val="bar"/></m:fPr><m:num><m:r><a:rPr lang="en-US" sz="3200"><a:solidFill><a:srgbClr val="2854A0"/></a:solidFill><a:latin typeface="Cambria Math"/></a:rPr><m:t>k</m:t></m:r></m:num><m:den><m:r><a:rPr lang="en-US" sz="3200"><a:solidFill><a:srgbClr val="2854A0"/></a:solidFill><a:latin typeface="Cambria Math"/></a:rPr><m:t>r</m:t></m:r></m:den></m:f></m:oMath></m:oMathPara></a14:m><a:endParaRPr lang="en-US"/></a:p></p:txBody></p:sp><p:sp><p:nvSpPr><p:cNvPr id="14" name=""><a:extLst xmlns:a="http://schemas.openxmlformats.org/drawingml/2006/main"><a:ext uri="{FF2B5EF4-FFF2-40B4-BE49-F238E27FC236}"><a16:creationId id="{17AE28E7-2C1E-4B27-B976-9CCBCAD7D7F7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p. 12 · 课程资源包</a:t></a:r></a:p></p:txBody></p:sp><p:sp><p:nvSpPr><p:cNvPr id="15" name=""><a:extLst xmlns:a="http://schemas.openxmlformats.org/drawingml/2006/main"><a:ext uri="{FF2B5EF4-FFF2-40B4-BE49-F238E27FC236}"><a16:creationId id="{3BD381E6-F19E-46F0-B624-1D8AA795FE4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21 / 27</a:t></a:r></a:p></p:txBody></p:sp></p:spTree><p:extLst><p:ext uri="{BB962C8B-B14F-4D97-AF65-F5344CB8AC3E}"><p14:creationId val="586502174" xmlns:p14="http://schemas.microsoft.com/office/powerpoint/2010/main" /></p:ext></p:extLst></p:cSld></p:sld>
</file>

<file path=ppt/slides/slide22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6" name=""><a:extLst xmlns:a="http://schemas.openxmlformats.org/drawingml/2006/main"><a:ext uri="{FF2B5EF4-FFF2-40B4-BE49-F238E27FC236}"><a16:creationId id="{4D34F00D-2CAF-40AB-A137-90C34FA9E26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930C065B-2F7F-4CC8-AFD3-62BDCEEB615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逃逸速度：能量判据与等号</a:t></a:r></a:p></p:txBody></p:sp><p:sp><p:nvSpPr><p:cNvPr id="3" name=""><a:extLst xmlns:a="http://schemas.openxmlformats.org/drawingml/2006/main"><a:ext uri="{FF2B5EF4-FFF2-40B4-BE49-F238E27FC236}"><a16:creationId id="{9644D2ED-8B02-40A7-BFAF-1C39FBEE56C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2FD32121-7F3A-4025-814F-17C76186343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到无穷远处，临界轨道的动能趋于零。</a:t></a:r></a:p></p:txBody></p:sp><p:sp><p:nvSpPr><p:cNvPr id="5" name=""><a:extLst xmlns:a="http://schemas.openxmlformats.org/drawingml/2006/main"><a:ext uri="{FF2B5EF4-FFF2-40B4-BE49-F238E27FC236}"><a16:creationId id="{7134C968-1136-4E6A-AF7B-5A43B8C201D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530A3F82-2E2B-440D-8018-25644F912EB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初始能量不小于零，才可达到任意远处。</a:t></a:r></a:p></p:txBody></p:sp><p:sp><p:nvSpPr><p:cNvPr id="7" name=""><a:extLst xmlns:a="http://schemas.openxmlformats.org/drawingml/2006/main"><a:ext uri="{FF2B5EF4-FFF2-40B4-BE49-F238E27FC236}"><a16:creationId id="{A465E8F8-90B9-4AC6-99E5-E1C773B142B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6F1D2436-8F26-4296-9BAD-71FF865B1AD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把引力参数代回初始能量，得到临界初速度。</a:t></a:r></a:p></p:txBody></p:sp><p:sp><p:nvSpPr><p:cNvPr id="9" name=""><a:extLst xmlns:a="http://schemas.openxmlformats.org/drawingml/2006/main"><a:ext uri="{FF2B5EF4-FFF2-40B4-BE49-F238E27FC236}"><a16:creationId id="{EB88F78C-4FAB-4CB3-B3EF-3E001B06981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8F5FA66B-6ADB-4086-8280-9018C5EC387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等号对应极限速度趋于零；大于临界值则远处仍有剩余速度。</a:t></a:r></a:p></p:txBody></p:sp><p:sp><p:nvSpPr><p:cNvPr id="11" name=""><a:extLst xmlns:a="http://schemas.openxmlformats.org/drawingml/2006/main"><a:ext uri="{FF2B5EF4-FFF2-40B4-BE49-F238E27FC236}"><a16:creationId id="{326F1E67-A5F3-4A26-A3BC-A4E3969F85D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22.1"/><p:cNvSpPr txBox="1"/><p:nvPr/></p:nvSpPr><p:spPr><a:xfrm xmlns:a="http://schemas.openxmlformats.org/drawingml/2006/main"><a:off x="2734234" y="5314950" /><a:ext cx="2246783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E₀ = </m:t></m:r><m:f><m:fPr><m:type m:val="bar"/></m:fPr><m:num><m:r><a:rPr lang="en-US" sz="3200"><a:solidFill><a:srgbClr val="2854A0"/></a:solidFill><a:latin typeface="Cambria Math"/></a:rPr><m:t>v₀²</m:t></m:r></m:num><m:den><m:r><a:rPr lang="en-US" sz="3200"><a:solidFill><a:srgbClr val="2854A0"/></a:solidFill><a:latin typeface="Cambria Math"/></a:rPr><m:t>2</m:t></m:r></m:den></m:f><m:r><a:rPr lang="en-US" sz="3200"><a:solidFill><a:srgbClr val="2854A0"/></a:solidFill><a:latin typeface="Cambria Math"/></a:rPr><m:t> − </m:t></m:r><m:f><m:fPr><m:type m:val="bar"/></m:fPr><m:num><m:r><a:rPr lang="en-US" sz="3200"><a:solidFill><a:srgbClr val="2854A0"/></a:solidFill><a:latin typeface="Cambria Math"/></a:rPr><m:t>k</m:t></m:r></m:num><m:den><m:r><a:rPr lang="en-US" sz="3200"><a:solidFill><a:srgbClr val="2854A0"/></a:solidFill><a:latin typeface="Cambria Math"/></a:rPr><m:t>r₀</m:t></m:r></m:den></m:f></m:oMath></m:oMathPara></a14:m><a:endParaRPr lang="en-US"/></a:p></p:txBody></p:sp><p:sp><p:nvSpPr><p:cNvPr id="13" name="Native Equation 22.2"/><p:cNvSpPr txBox="1"/><p:nvPr/></p:nvSpPr><p:spPr><a:xfrm xmlns:a="http://schemas.openxmlformats.org/drawingml/2006/main"><a:off x="7227187" y="5314950" /><a:ext cx="3414526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sSub><m:e><m:r><a:rPr lang="en-US" sz="3200"><a:solidFill><a:srgbClr val="2854A0"/></a:solidFill><a:latin typeface="Cambria Math"/></a:rPr><m:t>v</m:t></m:r></m:e><m:sub><m:r><a:rPr lang="en-US" sz="3200"><a:solidFill><a:srgbClr val="2854A0"/></a:solidFill><a:latin typeface="Cambria Math"/></a:rPr><m:t>esc</m:t></m:r></m:sub></m:sSub><m:r><a:rPr lang="en-US" sz="3200"><a:solidFill><a:srgbClr val="2854A0"/></a:solidFill><a:latin typeface="Cambria Math"/></a:rPr><m:t> = </m:t></m:r><m:rad><m:radPr><m:degHide m:val="1"/></m:radPr><m:deg/><m:e><m:r><a:rPr lang="en-US" sz="3200"><a:solidFill><a:srgbClr val="2854A0"/></a:solidFill><a:latin typeface="Cambria Math"/></a:rPr><m:t>2gr₀</m:t></m:r></m:e></m:rad></m:oMath></m:oMathPara></a14:m><a:endParaRPr lang="en-US"/></a:p></p:txBody></p:sp><p:sp><p:nvSpPr><p:cNvPr id="14" name=""><a:extLst xmlns:a="http://schemas.openxmlformats.org/drawingml/2006/main"><a:ext uri="{FF2B5EF4-FFF2-40B4-BE49-F238E27FC236}"><a16:creationId id="{43FEDD2E-115C-4FA3-8999-6AD27E393EA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p. 12 · 课程资源包</a:t></a:r></a:p></p:txBody></p:sp><p:sp><p:nvSpPr><p:cNvPr id="15" name=""><a:extLst xmlns:a="http://schemas.openxmlformats.org/drawingml/2006/main"><a:ext uri="{FF2B5EF4-FFF2-40B4-BE49-F238E27FC236}"><a16:creationId id="{5B22836C-3235-4C45-AAB9-BCE49A6B355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22 / 27</a:t></a:r></a:p></p:txBody></p:sp></p:spTree><p:extLst><p:ext uri="{BB962C8B-B14F-4D97-AF65-F5344CB8AC3E}"><p14:creationId val="1313390074" xmlns:p14="http://schemas.microsoft.com/office/powerpoint/2010/main" /></p:ext></p:extLst></p:cSld></p:sld>
</file>

<file path=ppt/slides/slide23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5" name=""><a:extLst xmlns:a="http://schemas.openxmlformats.org/drawingml/2006/main"><a:ext uri="{FF2B5EF4-FFF2-40B4-BE49-F238E27FC236}"><a16:creationId id="{114C2AB6-38AF-40BD-B809-2F84E38C1BA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8A53DE36-11B3-4B7C-8D2D-85DB907B4BCA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课堂练习：原题 p012-1</a:t></a:r></a:p></p:txBody></p:sp><p:sp><p:nvSpPr><p:cNvPr id="3" name=""><a:extLst xmlns:a="http://schemas.openxmlformats.org/drawingml/2006/main"><a:ext uri="{FF2B5EF4-FFF2-40B4-BE49-F238E27FC236}"><a16:creationId id="{2354E1EC-FB19-4521-A99C-A146C65B0F6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915B3998-CA6F-46DD-BB28-602422E36F1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请先独立完成，再对照下一页的能量推导。</a:t></a:r></a:p></p:txBody></p:sp><p:sp><p:nvSpPr><p:cNvPr id="5" name=""><a:extLst xmlns:a="http://schemas.openxmlformats.org/drawingml/2006/main"><a:ext uri="{FF2B5EF4-FFF2-40B4-BE49-F238E27FC236}"><a16:creationId id="{2D3D6AF6-8A3F-4B13-AD2B-393230534464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CE1B82A8-6196-4375-B66E-B3F96A1E81D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给定径向方程，写出与它对应的单位质量势能。</a:t></a:r></a:p></p:txBody></p:sp><p:sp><p:nvSpPr><p:cNvPr id="7" name=""><a:extLst xmlns:a="http://schemas.openxmlformats.org/drawingml/2006/main"><a:ext uri="{FF2B5EF4-FFF2-40B4-BE49-F238E27FC236}"><a16:creationId id="{FEBB9301-1BFF-4586-AEC0-E19EB28CD45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8F16E468-0C24-49AD-A9E7-32DB0731D2F5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把初始点设在地表，远处势能设为零。</a:t></a:r></a:p></p:txBody></p:sp><p:sp><p:nvSpPr><p:cNvPr id="9" name=""><a:extLst xmlns:a="http://schemas.openxmlformats.org/drawingml/2006/main"><a:ext uri="{FF2B5EF4-FFF2-40B4-BE49-F238E27FC236}"><a16:creationId id="{304D90A0-E31A-48BC-8A4F-1F249CA3DBA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A0DBD82B-14CE-40AD-A182-7531827F1B4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求最小初速度，并解释为什么该条件不能直接用于逃离太阳系。</a:t></a:r></a:p></p:txBody></p:sp><p:sp><p:nvSpPr><p:cNvPr id="11" name=""><a:extLst xmlns:a="http://schemas.openxmlformats.org/drawingml/2006/main"><a:ext uri="{FF2B5EF4-FFF2-40B4-BE49-F238E27FC236}"><a16:creationId id="{CFAA006B-5332-421E-957E-9EEA48B40E5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23.1"/><p:cNvSpPr txBox="1"/><p:nvPr/></p:nvSpPr><p:spPr><a:xfrm xmlns:a="http://schemas.openxmlformats.org/drawingml/2006/main"><a:off x="5521717" y="5314950" /><a:ext cx="1720067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r̈ = −</m:t></m:r><m:f><m:fPr><m:type m:val="bar"/></m:fPr><m:num><m:r><a:rPr lang="en-US" sz="3200"><a:solidFill><a:srgbClr val="2854A0"/></a:solidFill><a:latin typeface="Cambria Math"/></a:rPr><m:t>gr₀²</m:t></m:r></m:num><m:den><m:r><a:rPr lang="en-US" sz="3200"><a:solidFill><a:srgbClr val="2854A0"/></a:solidFill><a:latin typeface="Cambria Math"/></a:rPr><m:t>r²</m:t></m:r></m:den></m:f></m:oMath></m:oMathPara></a14:m><a:endParaRPr lang="en-US"/></a:p></p:txBody></p:sp><p:sp><p:nvSpPr><p:cNvPr id="13" name=""><a:extLst xmlns:a="http://schemas.openxmlformats.org/drawingml/2006/main"><a:ext uri="{FF2B5EF4-FFF2-40B4-BE49-F238E27FC236}"><a16:creationId id="{01E39A37-813C-4A8C-8830-495FD70D40C3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p. 12, problem p012-1 · 课程资源包</a:t></a:r></a:p></p:txBody></p:sp><p:sp><p:nvSpPr><p:cNvPr id="14" name=""><a:extLst xmlns:a="http://schemas.openxmlformats.org/drawingml/2006/main"><a:ext uri="{FF2B5EF4-FFF2-40B4-BE49-F238E27FC236}"><a16:creationId id="{FB97FE45-1D5B-482D-85B6-587643B29FFF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23 / 27</a:t></a:r></a:p></p:txBody></p:sp></p:spTree><p:extLst><p:ext uri="{BB962C8B-B14F-4D97-AF65-F5344CB8AC3E}"><p14:creationId val="2095145247" xmlns:p14="http://schemas.microsoft.com/office/powerpoint/2010/main" /></p:ext></p:extLst></p:cSld></p:sld>
</file>

<file path=ppt/slides/slide24.xml><?xml version="1.0" encoding="utf-8"?><p:sld xmlns:p="http://schemas.openxmlformats.org/presentationml/2006/main"><p:cSld><p:bg><p:bgPr><a:solidFill xmlns:a="http://schemas.openxmlformats.org/drawingml/2006/main"><a:srgbClr val="FFFFFF" /></a:solidFill></p:bgPr></p:bg><p:spTree><p:nvGrpSpPr><p:cNvPr id="1" name="" /><p:cNvGrpSpPr /><p:nvPr /></p:nvGrpSpPr><p:grpSpPr><a:xfrm xmlns:a="http://schemas.openxmlformats.org/drawingml/2006/main" /></p:grpSpPr><p:sp><p:nvSpPr><p:cNvPr id="16" name=""><a:extLst xmlns:a="http://schemas.openxmlformats.org/drawingml/2006/main"><a:ext uri="{FF2B5EF4-FFF2-40B4-BE49-F238E27FC236}"><a16:creationId id="{F4E38F49-136A-42EC-8DC5-21713C8D3266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304800" /><a:ext cx="8572500" cy="33337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350" b="1"><a:solidFill><a:srgbClr val="2854A0" /></a:solidFill><a:latin typeface="PingFang SC" /><a:ea typeface="PingFang SC" /><a:cs typeface="PingFang SC" /></a:defRPr></a:defPPr></a:lstStyle><a:p xmlns:a="http://schemas.openxmlformats.org/drawingml/2006/main"><a:pPr><a:defRPr sz="1350" b="1"><a:solidFill><a:srgbClr val="2854A0" /></a:solidFill><a:latin typeface="PingFang SC" /><a:ea typeface="PingFang SC" /><a:cs typeface="PingFang SC" /></a:defRPr></a:pPr><a:r><a:rPr sz="1350" b="1"><a:solidFill><a:srgbClr val="2854A0" /></a:solidFill><a:latin typeface="PingFang SC" /><a:ea typeface="PingFang SC" /><a:cs typeface="PingFang SC" /></a:rPr><a:t>辛几何与数学物理  /  第1章 实验事实</a:t></a:r></a:p></p:txBody></p:sp><p:sp><p:nvSpPr><p:cNvPr id="2" name=""><a:extLst xmlns:a="http://schemas.openxmlformats.org/drawingml/2006/main"><a:ext uri="{FF2B5EF4-FFF2-40B4-BE49-F238E27FC236}"><a16:creationId id="{C958EAC6-C55B-4D47-8476-D27FE83AACD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819150" /><a:ext cx="10858500" cy="6477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925" b="1"><a:solidFill><a:srgbClr val="173766" /></a:solidFill><a:latin typeface="PingFang SC" /><a:ea typeface="PingFang SC" /><a:cs typeface="PingFang SC" /></a:defRPr></a:defPPr></a:lstStyle><a:p xmlns:a="http://schemas.openxmlformats.org/drawingml/2006/main"><a:pPr><a:defRPr sz="2925" b="1"><a:solidFill><a:srgbClr val="173766" /></a:solidFill><a:latin typeface="PingFang SC" /><a:ea typeface="PingFang SC" /><a:cs typeface="PingFang SC" /></a:defRPr></a:pPr><a:r><a:rPr sz="2925" b="1"><a:solidFill><a:srgbClr val="173766" /></a:solidFill><a:latin typeface="PingFang SC" /><a:ea typeface="PingFang SC" /><a:cs typeface="PingFang SC" /></a:rPr><a:t>练习解答：两步能量计算</a:t></a:r></a:p></p:txBody></p:sp><p:sp><p:nvSpPr><p:cNvPr id="3" name=""><a:extLst xmlns:a="http://schemas.openxmlformats.org/drawingml/2006/main"><a:ext uri="{FF2B5EF4-FFF2-40B4-BE49-F238E27FC236}"><a16:creationId id="{6F11B1C6-2A29-41FF-9B4D-0D9D17A8A02C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647700" y="1562100" /><a:ext cx="10896600" cy="19050" /></a:xfrm><a:prstGeom prst="rect" xmlns:a="http://schemas.openxmlformats.org/drawingml/2006/main"><a:avLst /></a:prstGeom><a:solidFill xmlns:a="http://schemas.openxmlformats.org/drawingml/2006/main"><a:srgbClr val="CEDCEA" /></a:solidFill><a:ln w="0" xmlns:a="http://schemas.openxmlformats.org/drawingml/2006/main"><a:noFill /><a:prstDash val="solid" /></a:ln></p:spPr></p:sp><p:sp><p:nvSpPr><p:cNvPr id="4" name=""><a:extLst xmlns:a="http://schemas.openxmlformats.org/drawingml/2006/main"><a:ext uri="{FF2B5EF4-FFF2-40B4-BE49-F238E27FC236}"><a16:creationId id="{5E7868CA-2FA3-4A2A-95DC-9CFD12F176D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14375" y="1809750" /><a:ext cx="10668000" cy="7429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2025" b="1"><a:solidFill><a:srgbClr val="263D5E" /></a:solidFill><a:latin typeface="PingFang SC" /><a:ea typeface="PingFang SC" /><a:cs typeface="PingFang SC" /></a:defRPr></a:defPPr></a:lstStyle><a:p xmlns:a="http://schemas.openxmlformats.org/drawingml/2006/main"><a:pPr><a:defRPr sz="2025" b="1"><a:solidFill><a:srgbClr val="263D5E" /></a:solidFill><a:latin typeface="PingFang SC" /><a:ea typeface="PingFang SC" /><a:cs typeface="PingFang SC" /></a:defRPr></a:pPr><a:r><a:rPr sz="2025" b="1"><a:solidFill><a:srgbClr val="263D5E" /></a:solidFill><a:latin typeface="PingFang SC" /><a:ea typeface="PingFang SC" /><a:cs typeface="PingFang SC" /></a:rPr><a:t>先从径向方程确认势能，再用临界能量求速度。</a:t></a:r></a:p></p:txBody></p:sp><p:sp><p:nvSpPr><p:cNvPr id="5" name=""><a:extLst xmlns:a="http://schemas.openxmlformats.org/drawingml/2006/main"><a:ext uri="{FF2B5EF4-FFF2-40B4-BE49-F238E27FC236}"><a16:creationId id="{5FAC43A8-817E-45FD-832A-6CF5124037D0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264795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01</a:t></a:r></a:p></p:txBody></p:sp><p:sp><p:nvSpPr><p:cNvPr id="6" name=""><a:extLst xmlns:a="http://schemas.openxmlformats.org/drawingml/2006/main"><a:ext uri="{FF2B5EF4-FFF2-40B4-BE49-F238E27FC236}"><a16:creationId id="{A3A0F320-D7C4-476A-B362-76C1BB11737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262890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第一步：负梯度给出逆平方加速度，势能在无穷远趋于零。</a:t></a:r></a:p></p:txBody></p:sp><p:sp><p:nvSpPr><p:cNvPr id="7" name=""><a:extLst xmlns:a="http://schemas.openxmlformats.org/drawingml/2006/main"><a:ext uri="{FF2B5EF4-FFF2-40B4-BE49-F238E27FC236}"><a16:creationId id="{9ECB8D6A-2995-4657-BB78-E76787AE1D28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3457575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02</a:t></a:r></a:p></p:txBody></p:sp><p:sp><p:nvSpPr><p:cNvPr id="8" name=""><a:extLst xmlns:a="http://schemas.openxmlformats.org/drawingml/2006/main"><a:ext uri="{FF2B5EF4-FFF2-40B4-BE49-F238E27FC236}"><a16:creationId id="{887D72F0-C896-475B-B287-4F8D4BED732B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3438525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第二步：代入地表初始半径和速度，令临界总能量等于零。</a:t></a:r></a:p></p:txBody></p:sp><p:sp><p:nvSpPr><p:cNvPr id="9" name=""><a:extLst xmlns:a="http://schemas.openxmlformats.org/drawingml/2006/main"><a:ext uri="{FF2B5EF4-FFF2-40B4-BE49-F238E27FC236}"><a16:creationId id="{22C4FB90-6C8B-4686-82F4-0976C8F11DC2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23900" y="4267200" /><a:ext cx="428625" cy="40005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575" b="1"><a:solidFill><a:srgbClr val="3D8B8B" /></a:solidFill><a:latin typeface="PingFang SC" /><a:ea typeface="PingFang SC" /><a:cs typeface="PingFang SC" /></a:defRPr></a:defPPr></a:lstStyle><a:p xmlns:a="http://schemas.openxmlformats.org/drawingml/2006/main"><a:pPr><a:defRPr sz="1575" b="1"><a:solidFill><a:srgbClr val="3D8B8B" /></a:solidFill><a:latin typeface="PingFang SC" /><a:ea typeface="PingFang SC" /><a:cs typeface="PingFang SC" /></a:defRPr></a:pPr><a:r><a:rPr sz="1575" b="1"><a:solidFill><a:srgbClr val="3D8B8B" /></a:solidFill><a:latin typeface="PingFang SC" /><a:ea typeface="PingFang SC" /><a:cs typeface="PingFang SC" /></a:rPr><a:t>03</a:t></a:r></a:p></p:txBody></p:sp><p:sp><p:nvSpPr><p:cNvPr id="10" name=""><a:extLst xmlns:a="http://schemas.openxmlformats.org/drawingml/2006/main"><a:ext uri="{FF2B5EF4-FFF2-40B4-BE49-F238E27FC236}"><a16:creationId id="{BBDE663D-1AAF-4F8C-B334-1862C6355D3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62075" y="4248150" /><a:ext cx="9858375" cy="723900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1725" b="0"><a:solidFill><a:srgbClr val="263D5E" /></a:solidFill><a:latin typeface="PingFang SC" /><a:ea typeface="PingFang SC" /><a:cs typeface="PingFang SC" /></a:defRPr></a:defPPr></a:lstStyle><a:p xmlns:a="http://schemas.openxmlformats.org/drawingml/2006/main"><a:pPr><a:defRPr sz="1725" b="0"><a:solidFill><a:srgbClr val="263D5E" /></a:solidFill><a:latin typeface="PingFang SC" /><a:ea typeface="PingFang SC" /><a:cs typeface="PingFang SC" /></a:defRPr></a:pPr><a:r><a:rPr sz="1725" b="0"><a:solidFill><a:srgbClr val="263D5E" /></a:solidFill><a:latin typeface="PingFang SC" /><a:ea typeface="PingFang SC" /><a:cs typeface="PingFang SC" /></a:rPr><a:t>第三步：得到地球近似值；说明忽略太阳、空气与自转。</a:t></a:r></a:p></p:txBody></p:sp><p:sp><p:nvSpPr><p:cNvPr id="11" name=""><a:extLst xmlns:a="http://schemas.openxmlformats.org/drawingml/2006/main"><a:ext uri="{FF2B5EF4-FFF2-40B4-BE49-F238E27FC236}"><a16:creationId id="{7B2EAD73-7F6A-473D-85EE-154F18C2190D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371600" y="5210175" /><a:ext cx="10096500" cy="19050" /></a:xfrm><a:prstGeom prst="rect" xmlns:a="http://schemas.openxmlformats.org/drawingml/2006/main"><a:avLst /></a:prstGeom><a:solidFill xmlns:a="http://schemas.openxmlformats.org/drawingml/2006/main"><a:srgbClr val="DFE8F2" /></a:solidFill><a:ln w="0" xmlns:a="http://schemas.openxmlformats.org/drawingml/2006/main"><a:noFill /><a:prstDash val="solid" /></a:ln></p:spPr></p:sp><p:sp><p:nvSpPr><p:cNvPr id="12" name="Native Equation 24.1"/><p:cNvSpPr txBox="1"/><p:nvPr/></p:nvSpPr><p:spPr><a:xfrm xmlns:a="http://schemas.openxmlformats.org/drawingml/2006/main"><a:off x="2734234" y="5314950" /><a:ext cx="2246783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r><a:rPr lang="en-US" sz="3200"><a:solidFill><a:srgbClr val="2854A0"/></a:solidFill><a:latin typeface="Cambria Math"/></a:rPr><m:t>E₀ = </m:t></m:r><m:f><m:fPr><m:type m:val="bar"/></m:fPr><m:num><m:r><a:rPr lang="en-US" sz="3200"><a:solidFill><a:srgbClr val="2854A0"/></a:solidFill><a:latin typeface="Cambria Math"/></a:rPr><m:t>v₀²</m:t></m:r></m:num><m:den><m:r><a:rPr lang="en-US" sz="3200"><a:solidFill><a:srgbClr val="2854A0"/></a:solidFill><a:latin typeface="Cambria Math"/></a:rPr><m:t>2</m:t></m:r></m:den></m:f><m:r><a:rPr lang="en-US" sz="3200"><a:solidFill><a:srgbClr val="2854A0"/></a:solidFill><a:latin typeface="Cambria Math"/></a:rPr><m:t> − </m:t></m:r><m:f><m:fPr><m:type m:val="bar"/></m:fPr><m:num><m:r><a:rPr lang="en-US" sz="3200"><a:solidFill><a:srgbClr val="2854A0"/></a:solidFill><a:latin typeface="Cambria Math"/></a:rPr><m:t>k</m:t></m:r></m:num><m:den><m:r><a:rPr lang="en-US" sz="3200"><a:solidFill><a:srgbClr val="2854A0"/></a:solidFill><a:latin typeface="Cambria Math"/></a:rPr><m:t>r₀</m:t></m:r></m:den></m:f></m:oMath></m:oMathPara></a14:m><a:endParaRPr lang="en-US"/></a:p></p:txBody></p:sp><p:sp><p:nvSpPr><p:cNvPr id="13" name="Native Equation 24.2"/><p:cNvSpPr txBox="1"/><p:nvPr/></p:nvSpPr><p:spPr><a:xfrm xmlns:a="http://schemas.openxmlformats.org/drawingml/2006/main"><a:off x="7227187" y="5314950" /><a:ext cx="3414526" cy="981075" /></a:xfrm><a:prstGeom prst="rect"><a:avLst/></a:prstGeom><a:noFill/></p:spPr><p:txBody><a:bodyPr lIns="0" tIns="0" rIns="0" bIns="0" anchor="ctr"><a:spAutoFit/></a:bodyPr><a:lstStyle/><a:p><a:pPr algn="ctr"/><a14:m><m:oMathPara xmlns:m="http://schemas.openxmlformats.org/officeDocument/2006/math"><m:oMathParaPr><m:jc m:val="centerGroup"/></m:oMathParaPr><m:oMath><m:sSub><m:e><m:r><a:rPr lang="en-US" sz="3200"><a:solidFill><a:srgbClr val="2854A0"/></a:solidFill><a:latin typeface="Cambria Math"/></a:rPr><m:t>v</m:t></m:r></m:e><m:sub><m:r><a:rPr lang="en-US" sz="3200"><a:solidFill><a:srgbClr val="2854A0"/></a:solidFill><a:latin typeface="Cambria Math"/></a:rPr><m:t>esc</m:t></m:r></m:sub></m:sSub><m:r><a:rPr lang="en-US" sz="3200"><a:solidFill><a:srgbClr val="2854A0"/></a:solidFill><a:latin typeface="Cambria Math"/></a:rPr><m:t> = </m:t></m:r><m:rad><m:radPr><m:degHide m:val="1"/></m:radPr><m:deg/><m:e><m:r><a:rPr lang="en-US" sz="3200"><a:solidFill><a:srgbClr val="2854A0"/></a:solidFill><a:latin typeface="Cambria Math"/></a:rPr><m:t>2gr₀</m:t></m:r></m:e></m:rad></m:oMath></m:oMathPara></a14:m><a:endParaRPr lang="en-US"/></a:p></p:txBody></p:sp><p:sp><p:nvSpPr><p:cNvPr id="14" name=""><a:extLst xmlns:a="http://schemas.openxmlformats.org/drawingml/2006/main"><a:ext uri="{FF2B5EF4-FFF2-40B4-BE49-F238E27FC236}"><a16:creationId id="{23CF01DC-F883-4E8B-A12E-5656C0B7CB3E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704850" y="6457950" /><a:ext cx="619125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Arnold p. 12, answer to p012-1 · 课程资源包</a:t></a:r></a:p></p:txBody></p:sp><p:sp><p:nvSpPr><p:cNvPr id="15" name=""><a:extLst xmlns:a="http://schemas.openxmlformats.org/drawingml/2006/main"><a:ext uri="{FF2B5EF4-FFF2-40B4-BE49-F238E27FC236}"><a16:creationId id="{490C0A22-7794-49A5-A14D-84AE6F10FC89}" xmlns:a16="http://schemas.microsoft.com/office/drawing/2014/main" /></a:ext></a:extLst></p:cNvPr><p:cNvSpPr><a:spLocks noGrp="1" xmlns:a="http://schemas.openxmlformats.org/drawingml/2006/main" /></p:cNvSpPr><p:nvPr /></p:nvSpPr><p:spPr><a:xfrm xmlns:a="http://schemas.openxmlformats.org/drawingml/2006/main"><a:off x="10172700" y="6457950" /><a:ext cx="1333500" cy="238125" /></a:xfrm><a:prstGeom prst="rect" xmlns:a="http://schemas.openxmlformats.org/drawingml/2006/main"><a:avLst /></a:prstGeom><a:noFill xmlns:a="http://schemas.openxmlformats.org/drawingml/2006/main" /><a:ln w="0" xmlns:a="http://schemas.openxmlformats.org/drawingml/2006/main"><a:noFill /><a:prstDash val="solid" /></a:ln></p:spPr><p:txBody><a:bodyPr lIns="0" tIns="0" rIns="0" bIns="0" xmlns:a="http://schemas.openxmlformats.org/drawingml/2006/main"><a:normAutofit fontScale="100000" /></a:bodyPr><a:lstStyle xmlns:a="http://schemas.openxmlformats.org/drawingml/2006/main"><a:defPPr><a:defRPr sz="975" b="0"><a:solidFill><a:srgbClr val="72839C" /></a:solidFill><a:latin typeface="PingFang SC" /><a:ea typeface="PingFang SC" /><a:cs typeface="PingFang SC" /></a:defRPr></a:defPPr></a:lstStyle><a:p xmlns:a="http://schemas.openxmlformats.org/drawingml/2006/main"><a:pPr><a:defRPr sz="975" b="0"><a:solidFill><a:srgbClr val="72839C" /></a:solidFill><a:latin typeface="PingFang SC" /><a:ea typeface="PingFang SC" /><a:cs typeface="PingFang SC" /></a:defRPr></a:pPr><a:r><a:rPr sz="975" b="0"><a:solidFill><a:srgbClr val="72839C" /></a:solidFill><a:latin typeface="PingFang SC" /><a:ea typeface="PingFang SC" /><a:cs typeface="PingFang SC" /></a:rPr><a:t>V5   24 / 27</a:t></a:r></a:p></p:txBody></p:sp></p:spTree><p:extLst><p:ext uri="{BB962C8B-B14F-4D97-AF65-F5344CB8AC3E}"><p14:creationId val="794268475" xmlns:p14="http://schemas.microsoft.com/office/powerpoint/2010/main" /></p:ext></p:extLst></p:cSld>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FB62D-1F5D-49F0-A36B-DCD331FE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09191-8181-4970-9992-D02FE47B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概念辨析：惯性系的“类”唯一吗？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01405-5A1F-4094-86B9-27D9FC91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42E15-17A0-41FD-94F5-7D88D415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原题 p011-2 的答案是“不唯一”，但要说清比较标准。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1880F-E40C-4954-BB66-5FC6B719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760FB-4DAA-4DFC-8BC8-C77E63F4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若改变长度或时间单位，坐标描述的类可以变化。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50C0F-3050-4025-87F0-A035575D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5DD83-714E-4F9B-BDF1-33B076A3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若反向选择时间方向，也得到另一种约定。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3D067-FE24-4D88-B82E-E296CA58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10030-FA07-49C6-B205-1D9B5B89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固定同一个 Galilei 结构后，相容坐标系才由保持结构的变换联系。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6CDAD-2A55-4299-B6F1-E7B4DBAE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p. 11, problem p011-2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295A8-EE86-469C-A02D-0A43601C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25 / 27</a:t>
            </a:r>
          </a:p>
        </p:txBody>
      </p:sp>
    </p:spTree>
    <p:extLst>
      <p:ext uri="{BB962C8B-B14F-4D97-AF65-F5344CB8AC3E}">
        <p14:creationId xmlns:p14="http://schemas.microsoft.com/office/powerpoint/2010/main" val="18027620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9F3B5-7A38-46F7-9694-503543DC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B40C8-1964-4506-8C2B-B9506EFC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回顾与下一章的入口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7C679-412C-460B-85C7-AA8192B9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1FE6B-A770-43C8-8378-95EA3BC8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本章最重要的是辨认每个结论依赖哪一种前提。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0A74E-29AD-4A88-8FBC-0A8082E8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8CDFC-A03C-4E69-B9F5-9233B1B1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经验原理给出惯性系与状态的物理意义。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9A638-2E9C-4CBC-98BF-9B6CEDF0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02F93-E842-40F6-B9FB-20749E8B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Galilei 结构和 Newton 方程把这些前提写成数学对象。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065A2-19A5-4256-A951-5D635B68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87CC2-F649-44A5-B02D-93D4A3E5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对称性和能量方法把一般形式落到可检查的具体模型。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36758-7E59-4C52-9BE3-8348C087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3–14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F225F-9666-4021-82A1-1A0B2EC7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26 / 27</a:t>
            </a:r>
          </a:p>
        </p:txBody>
      </p:sp>
    </p:spTree>
    <p:extLst>
      <p:ext uri="{BB962C8B-B14F-4D97-AF65-F5344CB8AC3E}">
        <p14:creationId xmlns:p14="http://schemas.microsoft.com/office/powerpoint/2010/main" val="12641940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AAB08-4886-4D86-8385-6FEC4298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2407A-0DA0-4267-8255-F02D324D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资料与出处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81836-50B6-4858-907A-0990DA9F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A5073-CE42-422E-B176-F8F01A0E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本课件依据课程标准包逐项核对原书，并参考公开教学资料组织讲授顺序。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77F60-4691-4BB2-B864-475A947F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3F8E3-5DEC-42C6-93C5-7A43FDDA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2890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主来源：V. I. Arnold, Mathematical Methods of Classical Mechanics, 2nd ed., Chapter 1。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E7900-EC15-49BA-AD2D-33802121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2D236-EFBD-4997-8A43-88C3D44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38525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课堂组织参考：MIT OpenCourseWare 的 Galilean relativity 与逃逸速度讲义。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61CE5-D677-4D08-964E-14179CE1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29AAE-67BE-4E93-9BEA-2FC06A0D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481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D5E"/>
                </a:solidFill>
                <a:latin typeface="PingFang SC"/>
                <a:ea typeface="PingFang SC"/>
                <a:cs typeface="PingFang SC"/>
              </a:rPr>
              <a:t>符号和条件以本课程知识点、习题及原书扫描页为准；未复制外部课件版式。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62892-EB71-40C1-935E-55652DD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Arnold pp. 3–14 · 课程资源包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B7BD9-6F11-452B-851F-61CB23F9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457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2839C"/>
                </a:solidFill>
                <a:latin typeface="PingFang SC"/>
                <a:ea typeface="PingFang SC"/>
                <a:cs typeface="PingFang SC"/>
              </a:rPr>
              <a:t>V5   27 / 27</a:t>
            </a:r>
          </a:p>
        </p:txBody>
      </p:sp>
    </p:spTree>
    <p:extLst>
      <p:ext uri="{BB962C8B-B14F-4D97-AF65-F5344CB8AC3E}">
        <p14:creationId xmlns:p14="http://schemas.microsoft.com/office/powerpoint/2010/main" val="1832023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2026-10-11T08:54:08.9090000Z</dcterms:created>
  <dcterms:modified xsi:type="dcterms:W3CDTF">2026-10-11T08:54:08.9090000Z</dcterms:modified>
</coreProperties>
</file>