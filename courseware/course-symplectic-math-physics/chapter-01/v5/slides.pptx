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63cb357b174422" /><Relationship Type="http://schemas.openxmlformats.org/officeDocument/2006/relationships/extended-properties" Target="/docProps/app.xml" Id="R822720ee6c064dab" /><Relationship Type="http://schemas.openxmlformats.org/officeDocument/2006/relationships/officeDocument" Target="/ppt/presentation.xml" Id="R6c4d521e617b45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d587fd3884301"/>
  </p:sldMasterIdLst>
  <p:notesMasterIdLst>
    <p:notesMasterId xmlns:r="http://schemas.openxmlformats.org/officeDocument/2006/relationships" r:id="Rd2f51ff983554b25"/>
  </p:notesMasterIdLst>
  <p:sldIdLst>
    <p:sldId xmlns:r="http://schemas.openxmlformats.org/officeDocument/2006/relationships" id="256" r:id="R83cd0a4243ee42c7"/>
    <p:sldId xmlns:r="http://schemas.openxmlformats.org/officeDocument/2006/relationships" id="257" r:id="R73bc4d9499a54c58"/>
    <p:sldId xmlns:r="http://schemas.openxmlformats.org/officeDocument/2006/relationships" id="258" r:id="R288cd01d063847fa"/>
    <p:sldId xmlns:r="http://schemas.openxmlformats.org/officeDocument/2006/relationships" id="259" r:id="R7dfb660b1e0d4f27"/>
    <p:sldId xmlns:r="http://schemas.openxmlformats.org/officeDocument/2006/relationships" id="260" r:id="R9d85db72431e49ab"/>
    <p:sldId xmlns:r="http://schemas.openxmlformats.org/officeDocument/2006/relationships" id="261" r:id="R93da41229a0b4f23"/>
    <p:sldId xmlns:r="http://schemas.openxmlformats.org/officeDocument/2006/relationships" id="262" r:id="R9adf40a2ed82430a"/>
    <p:sldId xmlns:r="http://schemas.openxmlformats.org/officeDocument/2006/relationships" id="263" r:id="R54547a966b774666"/>
    <p:sldId xmlns:r="http://schemas.openxmlformats.org/officeDocument/2006/relationships" id="264" r:id="R4a887d4655e044a6"/>
    <p:sldId xmlns:r="http://schemas.openxmlformats.org/officeDocument/2006/relationships" id="265" r:id="R11809c6fdd37430a"/>
    <p:sldId xmlns:r="http://schemas.openxmlformats.org/officeDocument/2006/relationships" id="266" r:id="R687da5f279c04fb0"/>
    <p:sldId xmlns:r="http://schemas.openxmlformats.org/officeDocument/2006/relationships" id="267" r:id="Rcdacedbc55cd4593"/>
    <p:sldId xmlns:r="http://schemas.openxmlformats.org/officeDocument/2006/relationships" id="268" r:id="Rb6405a94b98e440b"/>
    <p:sldId xmlns:r="http://schemas.openxmlformats.org/officeDocument/2006/relationships" id="269" r:id="R5d05a8a854a04165"/>
    <p:sldId xmlns:r="http://schemas.openxmlformats.org/officeDocument/2006/relationships" id="270" r:id="Ra527b2ac99d24ae7"/>
    <p:sldId xmlns:r="http://schemas.openxmlformats.org/officeDocument/2006/relationships" id="271" r:id="R8f35f9f6b78d433f"/>
    <p:sldId xmlns:r="http://schemas.openxmlformats.org/officeDocument/2006/relationships" id="272" r:id="Re89ac4d225c64f26"/>
    <p:sldId xmlns:r="http://schemas.openxmlformats.org/officeDocument/2006/relationships" id="273" r:id="R5df5104bc74d41db"/>
    <p:sldId xmlns:r="http://schemas.openxmlformats.org/officeDocument/2006/relationships" id="274" r:id="R06bd64dfd8154142"/>
    <p:sldId xmlns:r="http://schemas.openxmlformats.org/officeDocument/2006/relationships" id="275" r:id="Rf1ff66425c654515"/>
    <p:sldId xmlns:r="http://schemas.openxmlformats.org/officeDocument/2006/relationships" id="276" r:id="Rbf805968bc4b40e6"/>
    <p:sldId xmlns:r="http://schemas.openxmlformats.org/officeDocument/2006/relationships" id="277" r:id="R469fcf7e6cb44d14"/>
    <p:sldId xmlns:r="http://schemas.openxmlformats.org/officeDocument/2006/relationships" id="278" r:id="Rd7a63a36575846a5"/>
    <p:sldId xmlns:r="http://schemas.openxmlformats.org/officeDocument/2006/relationships" id="279" r:id="R2d31dbfc5cb14967"/>
    <p:sldId xmlns:r="http://schemas.openxmlformats.org/officeDocument/2006/relationships" id="280" r:id="Rd18d380d9f2f4f5a"/>
    <p:sldId xmlns:r="http://schemas.openxmlformats.org/officeDocument/2006/relationships" id="281" r:id="R6e3c21615ca445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0dcc8552f844b1" /><Relationship Type="http://schemas.openxmlformats.org/officeDocument/2006/relationships/slideMaster" Target="/ppt/slideMasters/slideMaster1.xml" Id="R743d587fd3884301" /><Relationship Type="http://schemas.openxmlformats.org/officeDocument/2006/relationships/notesMaster" Target="/ppt/notesMasters/notesMaster1.xml" Id="Rd2f51ff983554b25" /><Relationship Type="http://schemas.openxmlformats.org/officeDocument/2006/relationships/presProps" Target="/ppt/presProps.xml" Id="R9bc29dbb98f04792" /><Relationship Type="http://schemas.openxmlformats.org/officeDocument/2006/relationships/tableStyles" Target="/ppt/tableStyles.xml" Id="Reec7d398c3bf4b65" /><Relationship Type="http://schemas.openxmlformats.org/officeDocument/2006/relationships/slide" Target="/ppt/slides/slide1.xml" Id="R83cd0a4243ee42c7" /><Relationship Type="http://schemas.openxmlformats.org/officeDocument/2006/relationships/slide" Target="/ppt/slides/slide2.xml" Id="R73bc4d9499a54c58" /><Relationship Type="http://schemas.openxmlformats.org/officeDocument/2006/relationships/slide" Target="/ppt/slides/slide3.xml" Id="R288cd01d063847fa" /><Relationship Type="http://schemas.openxmlformats.org/officeDocument/2006/relationships/slide" Target="/ppt/slides/slide4.xml" Id="R7dfb660b1e0d4f27" /><Relationship Type="http://schemas.openxmlformats.org/officeDocument/2006/relationships/slide" Target="/ppt/slides/slide5.xml" Id="R9d85db72431e49ab" /><Relationship Type="http://schemas.openxmlformats.org/officeDocument/2006/relationships/slide" Target="/ppt/slides/slide6.xml" Id="R93da41229a0b4f23" /><Relationship Type="http://schemas.openxmlformats.org/officeDocument/2006/relationships/slide" Target="/ppt/slides/slide7.xml" Id="R9adf40a2ed82430a" /><Relationship Type="http://schemas.openxmlformats.org/officeDocument/2006/relationships/slide" Target="/ppt/slides/slide8.xml" Id="R54547a966b774666" /><Relationship Type="http://schemas.openxmlformats.org/officeDocument/2006/relationships/slide" Target="/ppt/slides/slide9.xml" Id="R4a887d4655e044a6" /><Relationship Type="http://schemas.openxmlformats.org/officeDocument/2006/relationships/slide" Target="/ppt/slides/slide10.xml" Id="R11809c6fdd37430a" /><Relationship Type="http://schemas.openxmlformats.org/officeDocument/2006/relationships/slide" Target="/ppt/slides/slide11.xml" Id="R687da5f279c04fb0" /><Relationship Type="http://schemas.openxmlformats.org/officeDocument/2006/relationships/slide" Target="/ppt/slides/slide12.xml" Id="Rcdacedbc55cd4593" /><Relationship Type="http://schemas.openxmlformats.org/officeDocument/2006/relationships/slide" Target="/ppt/slides/slide13.xml" Id="Rb6405a94b98e440b" /><Relationship Type="http://schemas.openxmlformats.org/officeDocument/2006/relationships/slide" Target="/ppt/slides/slide14.xml" Id="R5d05a8a854a04165" /><Relationship Type="http://schemas.openxmlformats.org/officeDocument/2006/relationships/slide" Target="/ppt/slides/slide15.xml" Id="Ra527b2ac99d24ae7" /><Relationship Type="http://schemas.openxmlformats.org/officeDocument/2006/relationships/slide" Target="/ppt/slides/slide16.xml" Id="R8f35f9f6b78d433f" /><Relationship Type="http://schemas.openxmlformats.org/officeDocument/2006/relationships/slide" Target="/ppt/slides/slide17.xml" Id="Re89ac4d225c64f26" /><Relationship Type="http://schemas.openxmlformats.org/officeDocument/2006/relationships/slide" Target="/ppt/slides/slide18.xml" Id="R5df5104bc74d41db" /><Relationship Type="http://schemas.openxmlformats.org/officeDocument/2006/relationships/slide" Target="/ppt/slides/slide19.xml" Id="R06bd64dfd8154142" /><Relationship Type="http://schemas.openxmlformats.org/officeDocument/2006/relationships/slide" Target="/ppt/slides/slide20.xml" Id="Rf1ff66425c654515" /><Relationship Type="http://schemas.openxmlformats.org/officeDocument/2006/relationships/slide" Target="/ppt/slides/slide21.xml" Id="Rbf805968bc4b40e6" /><Relationship Type="http://schemas.openxmlformats.org/officeDocument/2006/relationships/slide" Target="/ppt/slides/slide22.xml" Id="R469fcf7e6cb44d14" /><Relationship Type="http://schemas.openxmlformats.org/officeDocument/2006/relationships/slide" Target="/ppt/slides/slide23.xml" Id="Rd7a63a36575846a5" /><Relationship Type="http://schemas.openxmlformats.org/officeDocument/2006/relationships/slide" Target="/ppt/slides/slide24.xml" Id="R2d31dbfc5cb14967" /><Relationship Type="http://schemas.openxmlformats.org/officeDocument/2006/relationships/slide" Target="/ppt/slides/slide25.xml" Id="Rd18d380d9f2f4f5a" /><Relationship Type="http://schemas.openxmlformats.org/officeDocument/2006/relationships/slide" Target="/ppt/slides/slide26.xml" Id="R6e3c21615ca445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7eeeea429943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6a8dd0fb0455d" /><Relationship Type="http://schemas.openxmlformats.org/officeDocument/2006/relationships/notesMaster" Target="/ppt/notesMasters/notesMaster1.xml" Id="R5abdc3300e9d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82964e301c40f0" /><Relationship Type="http://schemas.openxmlformats.org/officeDocument/2006/relationships/notesMaster" Target="/ppt/notesMasters/notesMaster1.xml" Id="R2ea393ff7f10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00a0bc828340ad" /><Relationship Type="http://schemas.openxmlformats.org/officeDocument/2006/relationships/notesMaster" Target="/ppt/notesMasters/notesMaster1.xml" Id="R20d8d27416b2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60e7079794d9e" /><Relationship Type="http://schemas.openxmlformats.org/officeDocument/2006/relationships/notesMaster" Target="/ppt/notesMasters/notesMaster1.xml" Id="R130a9532f9234f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6df23c2dd54e7f" /><Relationship Type="http://schemas.openxmlformats.org/officeDocument/2006/relationships/notesMaster" Target="/ppt/notesMasters/notesMaster1.xml" Id="R9bd0f330761247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0537e219284864" /><Relationship Type="http://schemas.openxmlformats.org/officeDocument/2006/relationships/notesMaster" Target="/ppt/notesMasters/notesMaster1.xml" Id="R152ae6f30ec545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f52f35c5414d1f" /><Relationship Type="http://schemas.openxmlformats.org/officeDocument/2006/relationships/notesMaster" Target="/ppt/notesMasters/notesMaster1.xml" Id="R2d515c9a208e44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76db6609d64c20" /><Relationship Type="http://schemas.openxmlformats.org/officeDocument/2006/relationships/notesMaster" Target="/ppt/notesMasters/notesMaster1.xml" Id="R9a06d9c80c9049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1ab73374e24c41" /><Relationship Type="http://schemas.openxmlformats.org/officeDocument/2006/relationships/notesMaster" Target="/ppt/notesMasters/notesMaster1.xml" Id="R964a78ba71b6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49baf87e404282" /><Relationship Type="http://schemas.openxmlformats.org/officeDocument/2006/relationships/notesMaster" Target="/ppt/notesMasters/notesMaster1.xml" Id="R94571ec1ef3b42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75c1bd5ac64900" /><Relationship Type="http://schemas.openxmlformats.org/officeDocument/2006/relationships/notesMaster" Target="/ppt/notesMasters/notesMaster1.xml" Id="R3858646601b143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ae3c6f770d463b" /><Relationship Type="http://schemas.openxmlformats.org/officeDocument/2006/relationships/notesMaster" Target="/ppt/notesMasters/notesMaster1.xml" Id="R936aa7613c6d41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8b535adbb14553" /><Relationship Type="http://schemas.openxmlformats.org/officeDocument/2006/relationships/notesMaster" Target="/ppt/notesMasters/notesMaster1.xml" Id="R183cbc4bddaa4b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aca87459ca4298" /><Relationship Type="http://schemas.openxmlformats.org/officeDocument/2006/relationships/notesMaster" Target="/ppt/notesMasters/notesMaster1.xml" Id="R0fac9c6428504b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436379c7b142fd" /><Relationship Type="http://schemas.openxmlformats.org/officeDocument/2006/relationships/notesMaster" Target="/ppt/notesMasters/notesMaster1.xml" Id="R6947cadf1faf45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041f3ad2b74adb" /><Relationship Type="http://schemas.openxmlformats.org/officeDocument/2006/relationships/notesMaster" Target="/ppt/notesMasters/notesMaster1.xml" Id="R9a3dd288ac864d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c52d218ac54e32" /><Relationship Type="http://schemas.openxmlformats.org/officeDocument/2006/relationships/notesMaster" Target="/ppt/notesMasters/notesMaster1.xml" Id="R7b6731ac99524a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d71291f18e4eaf" /><Relationship Type="http://schemas.openxmlformats.org/officeDocument/2006/relationships/notesMaster" Target="/ppt/notesMasters/notesMaster1.xml" Id="Rbd29e09d7da940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3d840a36e0454d" /><Relationship Type="http://schemas.openxmlformats.org/officeDocument/2006/relationships/notesMaster" Target="/ppt/notesMasters/notesMaster1.xml" Id="R1e63ae32ed7d46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ddb5cabbb94eac" /><Relationship Type="http://schemas.openxmlformats.org/officeDocument/2006/relationships/notesMaster" Target="/ppt/notesMasters/notesMaster1.xml" Id="Ra2dce54f7bd244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059e65ecce4095" /><Relationship Type="http://schemas.openxmlformats.org/officeDocument/2006/relationships/notesMaster" Target="/ppt/notesMasters/notesMaster1.xml" Id="R02d24b34476e47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a054dcacf84b38" /><Relationship Type="http://schemas.openxmlformats.org/officeDocument/2006/relationships/notesMaster" Target="/ppt/notesMasters/notesMaster1.xml" Id="R65d18496ea4243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c357f290914f55" /><Relationship Type="http://schemas.openxmlformats.org/officeDocument/2006/relationships/notesMaster" Target="/ppt/notesMasters/notesMaster1.xml" Id="Rf09e78a9060549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029f5f5dfd4984" /><Relationship Type="http://schemas.openxmlformats.org/officeDocument/2006/relationships/notesMaster" Target="/ppt/notesMasters/notesMaster1.xml" Id="R09b11d88204f46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b72b34e4a6444c" /><Relationship Type="http://schemas.openxmlformats.org/officeDocument/2006/relationships/notesMaster" Target="/ppt/notesMasters/notesMaster1.xml" Id="Rf2dd8902e0a444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b7d66795ef640f8" /><Relationship Type="http://schemas.openxmlformats.org/officeDocument/2006/relationships/notesMaster" Target="/ppt/notesMasters/notesMaster1.xml" Id="Ref991a22671b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Chapter 1, pp. 3–14。</a:t>
            </a:r>
          </a:p>
          <a:p xmlns:a="http://schemas.openxmlformats.org/drawingml/2006/main">
            <a:r>
              <a:t>课程知识点：。</a:t>
            </a:r>
          </a:p>
          <a:p xmlns:a="http://schemas.openxmlformats.org/drawingml/2006/main">
            <a:r>
              <a:t>封面采用武汉大学校园照片。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3–14。</a:t>
            </a:r>
          </a:p>
          <a:p xmlns:a="http://schemas.openxmlformats.org/drawingml/2006/main">
            <a:r>
              <a:t>课程知识点：kp-ch01-relativity, kp-ch01-newton-initial-value。</a:t>
            </a:r>
          </a:p>
          <a:p xmlns:a="http://schemas.openxmlformats.org/drawingml/2006/main">
            <a:r>
              <a:t>这一页只给本章逻辑，后续每一段都回到“前提—方程—检验”。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3–4。</a:t>
            </a:r>
          </a:p>
          <a:p xmlns:a="http://schemas.openxmlformats.org/drawingml/2006/main">
            <a:r>
              <a:t>课程知识点：kp-ch01-relativity。</a:t>
            </a:r>
          </a:p>
          <a:p xmlns:a="http://schemas.openxmlformats.org/drawingml/2006/main">
            <a:r>
              <a:t>Arnold 把“实验事实”作为经典力学的近似经验基础。不要把物理上的确定性直接等同于微分方程全局存在唯一性。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3–4。</a:t>
            </a:r>
          </a:p>
          <a:p xmlns:a="http://schemas.openxmlformats.org/drawingml/2006/main">
            <a:r>
              <a:t>课程知识点：kp-ch01-relativity。</a:t>
            </a:r>
          </a:p>
          <a:p xmlns:a="http://schemas.openxmlformats.org/drawingml/2006/main">
            <a:r>
              <a:t>用列车例子区分“不能在封闭力学实验中测出匀速平动”和“不能测速度”。图为本课件绘制的可编辑示意，非原书插图。</a:t>
            </a:r>
          </a:p>
          <a:p xmlns:a="http://schemas.openxmlformats.org/drawingml/2006/main">
            <a:r>
              <a:t>补充教学参考：https://ocw.mit.edu/courses/8-033-relativity-fall-2006/resources/lecture2_symme1/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4–5。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原书 A⁴ 为仿射空间，事件差属于平移向量空间 E，τ:E→ℝ 给时间间隔。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5–6。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同一时刻的事件差在 ker τ 内，正定内积只定义在此三维方向上。跨时刻事件“同一空间地点”须先选参考系。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6。</a:t>
            </a:r>
          </a:p>
          <a:p xmlns:a="http://schemas.openxmlformats.org/drawingml/2006/main">
            <a:r>
              <a:t>课程知识点：kp-ch01-galilean-structure。</a:t>
            </a:r>
          </a:p>
          <a:p xmlns:a="http://schemas.openxmlformats.org/drawingml/2006/main">
            <a:r>
              <a:t>本章保时间方向的 Galilei 变换有 3+3+3+1 个连续参数。R 可包括反射，不改变维数。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6, 9–10。</a:t>
            </a:r>
          </a:p>
          <a:p xmlns:a="http://schemas.openxmlformats.org/drawingml/2006/main">
            <a:r>
              <a:t>课程知识点：kp-ch01-galilean-structure, kp-ch01-equivariance。</a:t>
            </a:r>
          </a:p>
          <a:p xmlns:a="http://schemas.openxmlformats.org/drawingml/2006/main">
            <a:r>
              <a:t>公式在 t′=t+s，R 与 v 常量时成立。转动坐标系会产生附加项。</a:t>
            </a:r>
          </a:p>
          <a:p xmlns:a="http://schemas.openxmlformats.org/drawingml/2006/main">
            <a:r>
              <a:t>补充教学参考：https://ocw.mit.edu/courses/8-033-relativity-fall-2006/resources/lecture2_symme1/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7–8。</a:t>
            </a:r>
          </a:p>
          <a:p xmlns:a="http://schemas.openxmlformats.org/drawingml/2006/main">
            <a:r>
              <a:t>课程知识点：kp-ch01-kinematics。</a:t>
            </a:r>
          </a:p>
          <a:p xmlns:a="http://schemas.openxmlformats.org/drawingml/2006/main">
            <a:r>
              <a:t>运动包含参数化；轨迹是像；世界线是时空中的图像。图形均为可编辑示意。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7。</a:t>
            </a:r>
          </a:p>
          <a:p xmlns:a="http://schemas.openxmlformats.org/drawingml/2006/main">
            <a:r>
              <a:t>课程知识点：kp-ch01-kinematics。</a:t>
            </a:r>
          </a:p>
          <a:p xmlns:a="http://schemas.openxmlformats.org/drawingml/2006/main">
            <a:r>
              <a:t>原书图 3 用于讨论曲率法向方向。此处的切向/法向分解由课程资源包整理；速度为零或曲线不正则时须另外检查条件。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8。</a:t>
            </a:r>
          </a:p>
          <a:p xmlns:a="http://schemas.openxmlformats.org/drawingml/2006/main">
            <a:r>
              <a:t>课程知识点：kp-ch01-newton-initial-value。</a:t>
            </a:r>
          </a:p>
          <a:p xmlns:a="http://schemas.openxmlformats.org/drawingml/2006/main">
            <a:r>
              <a:t>区分构形和状态；正质量质点的二阶方程可写为状态空间的一阶系统。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8, footnote 8。</a:t>
            </a:r>
          </a:p>
          <a:p xmlns:a="http://schemas.openxmlformats.org/drawingml/2006/main">
            <a:r>
              <a:t>课程知识点：kp-ch01-newton-initial-value。</a:t>
            </a:r>
          </a:p>
          <a:p xmlns:a="http://schemas.openxmlformats.org/drawingml/2006/main">
            <a:r>
              <a:t>原书为叙述方便有“假定全时间轴”的约定，不能从局部定理推出。课堂上区分物理确定性与数学存在唯一性。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9–10。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原书论证针对封闭系统；月球潮汐等开放子系统不可直接套用全部结论。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10。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区分模型内正交等变性和对所有物理相互作用的外推。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10, problem p010-2。</a:t>
            </a:r>
          </a:p>
          <a:p xmlns:a="http://schemas.openxmlformats.org/drawingml/2006/main">
            <a:r>
              <a:t>课程知识点：kp-ch01-equivariance。</a:t>
            </a:r>
          </a:p>
          <a:p xmlns:a="http://schemas.openxmlformats.org/drawingml/2006/main">
            <a:r>
              <a:t>若初始两质点重合或碰撞奇点落入定义域，证明要先核对模型条件。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13–14。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原书书页 14 定义多质点保守系统；U 是总势能，不要与每单位质量势能混用。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12–14。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讲授时逐项求导：dU/dt=Σ∇U·ẋ，因为 U 无显含时间；再代入 Newton 方程。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11–13。</a:t>
            </a:r>
          </a:p>
          <a:p xmlns:a="http://schemas.openxmlformats.org/drawingml/2006/main">
            <a:r>
              <a:t>课程知识点：kp-ch01-potential-models。</a:t>
            </a:r>
          </a:p>
          <a:p xmlns:a="http://schemas.openxmlformats.org/drawingml/2006/main">
            <a:r>
              <a:t>表中弹簧 α² 是单位质量参数；近地常重力与远场逆平方引力是不同近似。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12。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原书题目只考虑地球引力。k=gr₀² 为单位质量引力参数；示意图不是按比例绘制。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12。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示意图表达逆平方引力势能趋于零和能量水平；不是按比例的数值图。临界轨道远处速度趋于零。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12。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11.2 km/s 是原书给出的地球近似值，依赖理想化模型。大于临界值时远处还有剩余速率。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12, problem p012-1。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来自课程标准题库的 Arnold 原题 p012-1。先停留在本页让学生独立完成；下一页给推导。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12, answer to p012-1。</a:t>
            </a:r>
          </a:p>
          <a:p xmlns:a="http://schemas.openxmlformats.org/drawingml/2006/main">
            <a:r>
              <a:t>课程知识点：kp-ch01-escape-velocity。</a:t>
            </a:r>
          </a:p>
          <a:p xmlns:a="http://schemas.openxmlformats.org/drawingml/2006/main">
            <a:r>
              <a:t>U 的常数由 U(∞)=0 定出。把 k=gr₀² 代入即可。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p. 11, problem p011-2。</a:t>
            </a:r>
          </a:p>
          <a:p xmlns:a="http://schemas.openxmlformats.org/drawingml/2006/main">
            <a:r>
              <a:t>课程知识点：kp-ch01-relativity, kp-ch01-galilean-structure。</a:t>
            </a:r>
          </a:p>
          <a:p xmlns:a="http://schemas.openxmlformats.org/drawingml/2006/main">
            <a:r>
              <a:t>保留原书问题；不要把单位变换自动算进已固定结构下的 Galilei 变换。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3–14。</a:t>
            </a:r>
          </a:p>
          <a:p xmlns:a="http://schemas.openxmlformats.org/drawingml/2006/main">
            <a:r>
              <a:t>课程知识点：kp-ch01-relativity, kp-ch01-equivariance, kp-ch01-escape-velocity。</a:t>
            </a:r>
          </a:p>
          <a:p xmlns:a="http://schemas.openxmlformats.org/drawingml/2006/main">
            <a:r>
              <a:t>回顾时让学生分别指出经验假设、数学附加条件和模型近似。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主来源：V. I. Arnold, Mathematical Methods of Classical Mechanics, 2nd ed., pp. 3–14。</a:t>
            </a:r>
          </a:p>
          <a:p xmlns:a="http://schemas.openxmlformats.org/drawingml/2006/main">
            <a:r>
              <a:t>课程知识点：kp-ch01-relativity, kp-ch01-escape-velocity。</a:t>
            </a:r>
          </a:p>
          <a:p xmlns:a="http://schemas.openxmlformats.org/drawingml/2006/main">
            <a:r>
              <a:t>仅参考公开教学资料的讲解顺序与题型，不复制其幻灯片设计或文字。</a:t>
            </a:r>
          </a:p>
          <a:p xmlns:a="http://schemas.openxmlformats.org/drawingml/2006/main">
            <a:r>
              <a:t>补充教学参考：https://ocw.mit.edu/courses/8-033-relativity-fall-2006/resources/lecture2_symme1/ ; https://ocw.mit.edu/courses/8-01sc-classical-mechanics-fall-2016/pages/online-textbook/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4511519364a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d3614ff3b44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e5a3be64344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e48d8e3f943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a13b46ff343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60057a9cd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600745-B9AE-4261-B1C6-3EF3826D9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630B8D-BAE4-40DB-89A7-2479BF126D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3D1467-18A9-403F-B8DC-6D2D59F78A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19FCA3-83CB-477B-9768-DC38BCB602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E14878-239D-4CC6-BE4E-E3F48CAA8D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80E099-90E6-400A-B5BE-F43FEDC227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FC23E6-0AC3-4D37-8047-B3D3ABCDBD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B5FEB8-B9BE-40CD-9C1E-677020B9FD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616FD5-E0AA-42E1-9002-1FA29C395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D4D045-3D34-49EC-9691-5F24C9E1F0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cd8935d954e66" /><Relationship Type="http://schemas.openxmlformats.org/officeDocument/2006/relationships/slideLayout" Target="/ppt/slideLayouts/slideLayout1.xml" Id="R4d5c0e4ba3ed4678" /><Relationship Type="http://schemas.openxmlformats.org/officeDocument/2006/relationships/slideLayout" Target="/ppt/slideLayouts/slideLayout2.xml" Id="R11b1eec863d143d1" /><Relationship Type="http://schemas.openxmlformats.org/officeDocument/2006/relationships/slideLayout" Target="/ppt/slideLayouts/slideLayout3.xml" Id="R0d2acd88c6314358" /><Relationship Type="http://schemas.openxmlformats.org/officeDocument/2006/relationships/slideLayout" Target="/ppt/slideLayouts/slideLayout4.xml" Id="Re6e51f21a1f94bb1" /><Relationship Type="http://schemas.openxmlformats.org/officeDocument/2006/relationships/slideLayout" Target="/ppt/slideLayouts/slideLayout5.xml" Id="Rfcd7a32f323e4abb" /><Relationship Type="http://schemas.openxmlformats.org/officeDocument/2006/relationships/slideLayout" Target="/ppt/slideLayouts/slideLayout6.xml" Id="Rb1803d67e0ad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c0e4ba3ed4678"/>
    <p:sldLayoutId xmlns:r="http://schemas.openxmlformats.org/officeDocument/2006/relationships" id="2147483650" r:id="R11b1eec863d143d1"/>
    <p:sldLayoutId xmlns:r="http://schemas.openxmlformats.org/officeDocument/2006/relationships" id="2147483651" r:id="R0d2acd88c6314358"/>
    <p:sldLayoutId xmlns:r="http://schemas.openxmlformats.org/officeDocument/2006/relationships" id="2147483652" r:id="Re6e51f21a1f94bb1"/>
    <p:sldLayoutId xmlns:r="http://schemas.openxmlformats.org/officeDocument/2006/relationships" id="2147483653" r:id="Rfcd7a32f323e4abb"/>
    <p:sldLayoutId xmlns:r="http://schemas.openxmlformats.org/officeDocument/2006/relationships" id="2147483654" r:id="Rb1803d67e0ad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a8bd47c8f4d13" /><Relationship Type="http://schemas.openxmlformats.org/officeDocument/2006/relationships/image" Target="/ppt/media/image.jpeg" Id="Ra82e29d905454b42" /><Relationship Type="http://schemas.openxmlformats.org/officeDocument/2006/relationships/notesSlide" Target="/ppt/notesSlides/notesSlide1.xml" Id="R8157bcbf4b52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71234fd2643b4" /><Relationship Type="http://schemas.openxmlformats.org/officeDocument/2006/relationships/notesSlide" Target="/ppt/notesSlides/notesSlide2.xml" Id="R8244b844ed4447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f3bd3305048c0" /><Relationship Type="http://schemas.openxmlformats.org/officeDocument/2006/relationships/notesSlide" Target="/ppt/notesSlides/notesSlide3.xml" Id="R5ab41f31df6c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61bfa7f9e4135" /><Relationship Type="http://schemas.openxmlformats.org/officeDocument/2006/relationships/notesSlide" Target="/ppt/notesSlides/notesSlide4.xml" Id="R00b8f1d3e2cf47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f249156d64605" /><Relationship Type="http://schemas.openxmlformats.org/officeDocument/2006/relationships/notesSlide" Target="/ppt/notesSlides/notesSlide5.xml" Id="Rc2c15e3f8a0a48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9c97539cb4e1d" /><Relationship Type="http://schemas.openxmlformats.org/officeDocument/2006/relationships/notesSlide" Target="/ppt/notesSlides/notesSlide6.xml" Id="R06df6059e9f048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db358936e4edc" /><Relationship Type="http://schemas.openxmlformats.org/officeDocument/2006/relationships/notesSlide" Target="/ppt/notesSlides/notesSlide7.xml" Id="R229f4b25a849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3926c50cc4116" /><Relationship Type="http://schemas.openxmlformats.org/officeDocument/2006/relationships/notesSlide" Target="/ppt/notesSlides/notesSlide8.xml" Id="R21439d3bbce14f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18f0e72054c4f" /><Relationship Type="http://schemas.openxmlformats.org/officeDocument/2006/relationships/notesSlide" Target="/ppt/notesSlides/notesSlide9.xml" Id="Rd65067b79a1e4b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4524d27864d20" /><Relationship Type="http://schemas.openxmlformats.org/officeDocument/2006/relationships/image" Target="/ppt/media/image.png" Id="Rfe908134446a4683" /><Relationship Type="http://schemas.openxmlformats.org/officeDocument/2006/relationships/notesSlide" Target="/ppt/notesSlides/notesSlide10.xml" Id="Rc9ae0c06cd3746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a828833c44a55" /><Relationship Type="http://schemas.openxmlformats.org/officeDocument/2006/relationships/notesSlide" Target="/ppt/notesSlides/notesSlide11.xml" Id="R4d78965432c348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fad9a88ea4bfb" /><Relationship Type="http://schemas.openxmlformats.org/officeDocument/2006/relationships/notesSlide" Target="/ppt/notesSlides/notesSlide12.xml" Id="R27223686516846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5cb98cdfed47b0" /><Relationship Type="http://schemas.openxmlformats.org/officeDocument/2006/relationships/notesSlide" Target="/ppt/notesSlides/notesSlide13.xml" Id="R565dbfe5204b4e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6f208a9224f8f" /><Relationship Type="http://schemas.openxmlformats.org/officeDocument/2006/relationships/notesSlide" Target="/ppt/notesSlides/notesSlide14.xml" Id="R71ecb660449948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22cdbb83140bd" /><Relationship Type="http://schemas.openxmlformats.org/officeDocument/2006/relationships/notesSlide" Target="/ppt/notesSlides/notesSlide15.xml" Id="R91e009f798b844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6b46b80bd4d13" /><Relationship Type="http://schemas.openxmlformats.org/officeDocument/2006/relationships/notesSlide" Target="/ppt/notesSlides/notesSlide16.xml" Id="R718869c288cb4c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eefe3d8a64a6e" /><Relationship Type="http://schemas.openxmlformats.org/officeDocument/2006/relationships/notesSlide" Target="/ppt/notesSlides/notesSlide17.xml" Id="Rb927c29274d846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d3bde75844958" /><Relationship Type="http://schemas.openxmlformats.org/officeDocument/2006/relationships/notesSlide" Target="/ppt/notesSlides/notesSlide18.xml" Id="R079d5bdfc20541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26e8b11e34afb" /><Relationship Type="http://schemas.openxmlformats.org/officeDocument/2006/relationships/notesSlide" Target="/ppt/notesSlides/notesSlide19.xml" Id="R521f97544d2c46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a05d4dc7c4e10" /><Relationship Type="http://schemas.openxmlformats.org/officeDocument/2006/relationships/notesSlide" Target="/ppt/notesSlides/notesSlide20.xml" Id="R1e4641e0f69a40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2ca6d5cd2437f" /><Relationship Type="http://schemas.openxmlformats.org/officeDocument/2006/relationships/notesSlide" Target="/ppt/notesSlides/notesSlide21.xml" Id="R54d39e0867a347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730a3018c4384" /><Relationship Type="http://schemas.openxmlformats.org/officeDocument/2006/relationships/notesSlide" Target="/ppt/notesSlides/notesSlide22.xml" Id="R3a93e66ca82243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d6af6191046be" /><Relationship Type="http://schemas.openxmlformats.org/officeDocument/2006/relationships/notesSlide" Target="/ppt/notesSlides/notesSlide23.xml" Id="R87bbe1d3002643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a035956f64bac" /><Relationship Type="http://schemas.openxmlformats.org/officeDocument/2006/relationships/notesSlide" Target="/ppt/notesSlides/notesSlide24.xml" Id="Rcd95b5b41f104a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cc0bb1db042c9" /><Relationship Type="http://schemas.openxmlformats.org/officeDocument/2006/relationships/notesSlide" Target="/ppt/notesSlides/notesSlide25.xml" Id="Rc7c3e2e942bb49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a354213f84a7a" /><Relationship Type="http://schemas.openxmlformats.org/officeDocument/2006/relationships/notesSlide" Target="/ppt/notesSlides/notesSlide26.xml" Id="R0fa3b33f303b44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B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384B7-9DF4-4090-BB65-23106B1CE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e29d905454b42"/>
          <a:srcRect xmlns:a="http://schemas.openxmlformats.org/drawingml/2006/main" l="24786" t="0" r="247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0"/>
            <a:ext cx="5353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09973-F5E2-4093-9192-CA79C802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38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B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AF1FC-1574-4AA3-982E-26C1C7CC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9E9F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9E9F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9E9F4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F3CF2-BE21-44D4-B50A-8CBBC3E4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 1 章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FCE7C-04AD-4DD5-AC56-5D094410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0D001-70C2-45C9-A869-AEB42CD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DDECF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DDECF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DDECF5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5BDC2-DB70-4995-91D0-AE815F33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DD5E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DD5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DD5E6"/>
                </a:solidFill>
                <a:latin typeface="PingFang SC"/>
                <a:ea typeface="PingFang SC"/>
                <a:cs typeface="PingFang SC"/>
              </a:rPr>
              <a:t>面向本科高年级的课堂讲授</a:t>
            </a:r>
          </a:p>
        </p:txBody>
      </p:sp>
    </p:spTree>
    <p:extLst>
      <p:ext uri="{BB962C8B-B14F-4D97-AF65-F5344CB8AC3E}">
        <p14:creationId xmlns:p14="http://schemas.microsoft.com/office/powerpoint/2010/main" val="1603263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DADEC-2589-4FB3-83B2-C357C638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87979-8BD1-4EA2-B4D6-DA6C783C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本章要回答什么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60A93-F812-4409-8CE1-D508A3C5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5C606-317D-4C19-B35C-4FE2E383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3–14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A44E1-5CA2-488E-82FD-1B180CD5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02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AEFAD-E079-4403-9CBE-4A93FFB3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三个问题串起从经验事实到可计算模型的过程。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826B-4F28-482C-8400-52DFB06D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6A63A-7643-475C-BD3B-CF119F5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622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01  何为惯性系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D119C-3EE8-498E-B053-60493BD0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4317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相对性原理与 Galilei 时空，说明哪些变化只是在换坐标。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E142C-4AB2-48F1-BE62-7FA071E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0334625" cy="9525"/>
          </a:xfrm>
          <a:custGeom xmlns:a="http://schemas.openxmlformats.org/drawingml/2006/main">
            <a:pathLst>
              <a:path w="10334625" h="9525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98D51-F27A-4673-B001-4547B2F9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DE8D7-AEE2-4C7E-9ECE-8C731034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02  初值决定什么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709CC-91CD-4D3A-B499-F29A1AB6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33800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把位置与速度合为状态，讨论方程的局部存在唯一性。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D5FD2-4504-456B-9DE3-312629E0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334625" cy="9525"/>
          </a:xfrm>
          <a:custGeom xmlns:a="http://schemas.openxmlformats.org/drawingml/2006/main">
            <a:pathLst>
              <a:path w="10334625" h="9525">
                <a:moveTo>
                  <a:pt x="0" y="0"/>
                </a:moveTo>
                <a:lnTo>
                  <a:pt x="10334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73E4A-2E58-457F-9381-179E82E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A924C-3713-4372-A861-7C090392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434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03  如何检验模型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D6891-83CD-4D57-8185-9E8A0E4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24425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从对称性与能量出发，推导逃逸速度并检查适用条件。</a:t>
            </a:r>
          </a:p>
        </p:txBody>
      </p:sp>
    </p:spTree>
    <p:extLst>
      <p:ext uri="{BB962C8B-B14F-4D97-AF65-F5344CB8AC3E}">
        <p14:creationId xmlns:p14="http://schemas.microsoft.com/office/powerpoint/2010/main" val="1012371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5602A-AF0A-4281-BC37-1EE6A0DB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C6DEE-C0CA-4417-B13F-0297E09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相对性与确定性是经验前提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1DD2C-850E-4AD9-BD56-3AFF1AD2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29179-9A9B-4A39-AA02-520AD78E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3–4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01610-7BAF-4958-A653-5037DD64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03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1ADCA-5BCF-4B50-B8A7-6C82C2FD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物理原理不等于数学定理。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312CC-69C9-4E73-AFF7-0130128C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105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12F5F-9FAF-44D8-8D43-072230B1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相对性原理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B4B38-A2DF-4A55-841F-24C89D5D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64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存在一族惯性系。封闭力学实验在这些参考系中服从同形规律。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9745D-8882-4C31-BBFA-5D80FA4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5105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9ACA5-AEE8-4012-B7E8-667B9DC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9557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确定性原理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96029-7709-41BE-947D-5B759766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464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给出某时刻完整状态后，模型应确定其后续运动。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2620F-9B19-496F-A4FB-E57E08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数学层面仍要证明：给定方程是否存在解、解是否唯一、能存在多久。</a:t>
            </a:r>
          </a:p>
        </p:txBody>
      </p:sp>
    </p:spTree>
    <p:extLst>
      <p:ext uri="{BB962C8B-B14F-4D97-AF65-F5344CB8AC3E}">
        <p14:creationId xmlns:p14="http://schemas.microsoft.com/office/powerpoint/2010/main" val="727061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41642-0CB9-4570-9103-24B79130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E72ED-298F-4095-80DD-B61E1EBD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列车实验：匀速平动无法在车厢内测出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47A05-0995-469D-A2FD-812E2A0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7499F-D9E4-4BB2-9CE9-F40B2E4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3–4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D8CCE-E619-4D3E-8D06-670AB39D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04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BE400-6558-4046-B641-1F4FE92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526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封闭车厢内的实验只比较物体之间的运动。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EC42B-74F4-4A06-8515-1B672C54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6825"/>
            <a:ext cx="6924675" cy="9525"/>
          </a:xfrm>
          <a:custGeom xmlns:a="http://schemas.openxmlformats.org/drawingml/2006/main">
            <a:pathLst>
              <a:path w="6924675" h="9525">
                <a:moveTo>
                  <a:pt x="0" y="0"/>
                </a:moveTo>
                <a:lnTo>
                  <a:pt x="6924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67E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A76C-BF9A-40B6-B2D3-D9A3CBB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6924675" cy="9525"/>
          </a:xfrm>
          <a:custGeom xmlns:a="http://schemas.openxmlformats.org/drawingml/2006/main">
            <a:pathLst>
              <a:path w="6924675" h="9525">
                <a:moveTo>
                  <a:pt x="0" y="0"/>
                </a:moveTo>
                <a:lnTo>
                  <a:pt x="6924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7E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14FDF-9F6C-4513-9D18-194467B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24200"/>
            <a:ext cx="49530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B14B3-C921-4AD1-A411-96CBC60B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124325"/>
            <a:ext cx="4953000" cy="9525"/>
          </a:xfrm>
          <a:custGeom xmlns:a="http://schemas.openxmlformats.org/drawingml/2006/main"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E3D22-BAFA-4820-8BF2-0BDD1631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匀速列车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B184C-8C81-4B25-B1B2-701917EB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4AFEB-D9CF-4C4C-927C-77D553F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1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E119C-45FB-41A3-BA09-3BACA77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38525"/>
            <a:ext cx="9525" cy="342900"/>
          </a:xfrm>
          <a:custGeom xmlns:a="http://schemas.openxmlformats.org/drawingml/2006/main">
            <a:pathLst>
              <a:path w="9525"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8D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D1BB4-1D6D-4D0B-BA88-BD8249C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62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车厢系：球竖直落下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EA6D5-01B5-47DF-ADA8-918F1A2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09950"/>
            <a:ext cx="1228725" cy="447675"/>
          </a:xfrm>
          <a:custGeom xmlns:a="http://schemas.openxmlformats.org/drawingml/2006/main">
            <a:pathLst>
              <a:path w="1228725" h="447675">
                <a:moveTo>
                  <a:pt x="0" y="0"/>
                </a:moveTo>
                <a:lnTo>
                  <a:pt x="1228725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A7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C7068-D925-4730-91A2-2DAB3566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地面系：有水平位移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6C161-283F-4880-978D-45973812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43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关键限制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0BD55-E935-40EF-B0D6-6B586FE4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05325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地球系仅可在给定精度与时间尺度内近似为惯性系。</a:t>
            </a:r>
          </a:p>
        </p:txBody>
      </p:sp>
    </p:spTree>
    <p:extLst>
      <p:ext uri="{BB962C8B-B14F-4D97-AF65-F5344CB8AC3E}">
        <p14:creationId xmlns:p14="http://schemas.microsoft.com/office/powerpoint/2010/main" val="806227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0DD51-CDD9-4123-87CE-920900A9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1F3AA-F1DD-433C-B6B5-D7C6899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事件与时间映射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EF60F-63D9-4C27-8F55-F3AA1003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569F9-56DB-4982-9780-E50D82E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4–5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6129F-11F4-466C-A235-1C39F10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05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263E8-3E5B-43C5-9718-6A711DD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Galilei 时空先是四维仿射空间：事件能作差，却没有天然原点。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1E834-7AED-40CA-B363-55DB9D5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4286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F02DF-8F8C-4E6D-AFC8-3BA4F24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8610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时间间隔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3F445-BE6E-4F81-95C4-8F449F2E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38525"/>
            <a:ext cx="38290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线性映射 τ 作用在事件差上，给出两个事件的时间差。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0" name="EQ_time">
                <a:extLst xmlns:a="http://schemas.openxmlformats.org/drawingml/2006/main">
                  <a:ext uri="{FF2B5EF4-FFF2-40B4-BE49-F238E27FC236}">
                    <a16:creationId xmlns:a16="http://schemas.microsoft.com/office/drawing/2014/main" id="{D6EB0462-660C-4AB0-A461-BBFCD69F729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0" y="3162300"/>
                <a:ext cx="53340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225">
                          <a:latin typeface="Cambria Math"/>
                          <a:cs typeface="Cambria Math"/>
                        </a:rPr>
                        <m:t>Δt = τ(b − a)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EQ_time">
                <a:extLst xmlns:a="http://schemas.openxmlformats.org/drawingml/2006/main">
                  <a:ext uri="{FF2B5EF4-FFF2-40B4-BE49-F238E27FC236}">
                    <a16:creationId xmlns:a16="http://schemas.microsoft.com/office/drawing/2014/main" id="{D6EB0462-660C-4AB0-A461-BBFCD69F729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619750" y="3162300"/>
                <a:ext cx="53340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Δt = τ(b − a)</a:t>
                </a:r>
              </a:p>
            </p:txBody>
          </p:sp>
        </mc:Fallback>
      </mc:AlternateContent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D6713-6150-4BD5-84EB-A2F7D72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38600"/>
            <a:ext cx="514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改变坐标原点，不改变 Δt。</a:t>
            </a:r>
          </a:p>
        </p:txBody>
      </p:sp>
    </p:spTree>
    <p:extLst>
      <p:ext uri="{BB962C8B-B14F-4D97-AF65-F5344CB8AC3E}">
        <p14:creationId xmlns:p14="http://schemas.microsoft.com/office/powerpoint/2010/main" val="802021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536FBE-2565-47C6-89A2-E6BFC5B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2D1E8-F3B4-48B0-BDD1-B1928EB2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同时切片上才能谈空间距离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B4912-677F-4360-AFBC-123554B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AA03-7BEC-4C57-9A45-4303348A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5–6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001D9-3E1B-4755-A0DC-D0040B9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06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DFEAF-91C8-456F-B2CC-899369D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240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τ(b − a)=0 定义同时性；空间内积只作用在同一时刻的事件差上。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F0D4C-BA43-4788-ABF8-05482EBF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5886450" cy="9525"/>
          </a:xfrm>
          <a:custGeom xmlns:a="http://schemas.openxmlformats.org/drawingml/2006/main">
            <a:pathLst>
              <a:path w="5886450" h="9525">
                <a:moveTo>
                  <a:pt x="0" y="0"/>
                </a:moveTo>
                <a:lnTo>
                  <a:pt x="5886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F386A-BFE8-49A1-B404-518B3053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43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t0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CF9B6-DC8F-4464-860A-1F913929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886450" cy="9525"/>
          </a:xfrm>
          <a:custGeom xmlns:a="http://schemas.openxmlformats.org/drawingml/2006/main">
            <a:pathLst>
              <a:path w="5886450" h="9525">
                <a:moveTo>
                  <a:pt x="0" y="0"/>
                </a:moveTo>
                <a:lnTo>
                  <a:pt x="5886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FCA16-57CC-47E8-B382-B1559ED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t1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F4088-EEDA-4AAF-9732-7C98707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5886450" cy="9525"/>
          </a:xfrm>
          <a:custGeom xmlns:a="http://schemas.openxmlformats.org/drawingml/2006/main">
            <a:pathLst>
              <a:path w="5886450" h="9525">
                <a:moveTo>
                  <a:pt x="0" y="0"/>
                </a:moveTo>
                <a:lnTo>
                  <a:pt x="5886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A7372-1929-46E1-AFC7-0D95E4C7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48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t2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802A8-250B-400C-B98A-3E7D3F42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71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0C991-DCD6-4252-B14F-A05B0F0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71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182E4-B5DC-4383-8CAE-30BE8B92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38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C8070-67EB-4502-A4BC-E5ECFD80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10E87-A163-4238-8140-7FDE30A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67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8A75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8A75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8A752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95C8B-A960-4BC6-B704-9E274067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476750"/>
            <a:ext cx="2543175" cy="9525"/>
          </a:xfrm>
          <a:custGeom xmlns:a="http://schemas.openxmlformats.org/drawingml/2006/main">
            <a:pathLst>
              <a:path w="2543175" h="9525">
                <a:moveTo>
                  <a:pt x="0" y="0"/>
                </a:moveTo>
                <a:lnTo>
                  <a:pt x="2543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03B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06821-DD1C-4E44-8EDB-0C79EA7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0671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同一切片：可测距离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B3231-8EDB-4A30-92AF-0303E81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52725"/>
            <a:ext cx="4010025" cy="2924175"/>
          </a:xfrm>
          <a:prstGeom xmlns:a="http://schemas.openxmlformats.org/drawingml/2006/main" prst="roundRect">
            <a:avLst>
              <a:gd name="adj" fmla="val 260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21" name="EQ_simultaneous">
                <a:extLst xmlns:a="http://schemas.openxmlformats.org/drawingml/2006/main">
                  <a:ext uri="{FF2B5EF4-FFF2-40B4-BE49-F238E27FC236}">
                    <a16:creationId xmlns:a16="http://schemas.microsoft.com/office/drawing/2014/main" id="{3C2F6E9D-B5AD-4DCE-A780-89B8A906AC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24775" y="3114675"/>
                <a:ext cx="3476625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400">
                          <a:latin typeface="Cambria Math"/>
                          <a:cs typeface="Cambria Math"/>
                        </a:rPr>
                        <m:t>τ(b − a) = 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1" name="EQ_simultaneous">
                <a:extLst xmlns:a="http://schemas.openxmlformats.org/drawingml/2006/main">
                  <a:ext uri="{FF2B5EF4-FFF2-40B4-BE49-F238E27FC236}">
                    <a16:creationId xmlns:a16="http://schemas.microsoft.com/office/drawing/2014/main" id="{3C2F6E9D-B5AD-4DCE-A780-89B8A906AC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24775" y="3114675"/>
                <a:ext cx="3476625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τ(b − a) = 0</a:t>
                </a:r>
              </a:p>
            </p:txBody>
          </p:sp>
        </mc:Fallback>
      </mc:AlternateContent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22" name="EQ_distance">
                <a:extLst xmlns:a="http://schemas.openxmlformats.org/drawingml/2006/main">
                  <a:ext uri="{FF2B5EF4-FFF2-40B4-BE49-F238E27FC236}">
                    <a16:creationId xmlns:a16="http://schemas.microsoft.com/office/drawing/2014/main" id="{6F141FDB-B8E8-4ED9-9EED-EEE364623C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24775" y="4086225"/>
                <a:ext cx="3533775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325">
                          <a:latin typeface="Cambria Math"/>
                          <a:cs typeface="Cambria Math"/>
                        </a:rPr>
                        <m:t>ρ(a,b) = </m:t>
                      </m:r>
                      <m:rad>
                        <m:radPr>
                          <m:degHide m:val="1"/>
                        </m:radPr>
                        <m:deg/>
                        <m:e>
                          <m:r>
                            <a:rPr lang="en-US" sz="2325">
                              <a:latin typeface="Cambria Math"/>
                              <a:cs typeface="Cambria Math"/>
                            </a:rPr>
                            <m:t>⟨b−a,b−a⟩</m:t>
                          </m:r>
                        </m:e>
                      </m:ra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2" name="EQ_distance">
                <a:extLst xmlns:a="http://schemas.openxmlformats.org/drawingml/2006/main">
                  <a:ext uri="{FF2B5EF4-FFF2-40B4-BE49-F238E27FC236}">
                    <a16:creationId xmlns:a16="http://schemas.microsoft.com/office/drawing/2014/main" id="{6F141FDB-B8E8-4ED9-9EED-EEE364623C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724775" y="4086225"/>
                <a:ext cx="3533775" cy="1047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3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3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ρ(a,b) = √⟨b−a,b−a⟩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396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6FDB2-FFC2-4C50-B546-186BB126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BB156-3000-4BD2-838A-AA615CD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Galilei 变换保留时间差与同时距离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9D5C6-D8A2-48C3-9559-205EEE7F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FCF48-DE34-493A-B2C5-47AF5B35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0E69C-B097-4E71-B73C-E0E9831E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07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9043D-BF6D-4509-8741-B621950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107537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galilei">
                <a:extLst xmlns:a="http://schemas.openxmlformats.org/drawingml/2006/main">
                  <a:ext uri="{FF2B5EF4-FFF2-40B4-BE49-F238E27FC236}">
                    <a16:creationId xmlns:a16="http://schemas.microsoft.com/office/drawing/2014/main" id="{724E601A-E2A5-4745-ACC1-0620E981AD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95375" y="2162175"/>
                <a:ext cx="10001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225">
                          <a:latin typeface="Cambria Math"/>
                          <a:cs typeface="Cambria Math"/>
                        </a:rPr>
                        <m:t>t′ = t+s,    x′ = Rx+vt+a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galilei">
                <a:extLst xmlns:a="http://schemas.openxmlformats.org/drawingml/2006/main">
                  <a:ext uri="{FF2B5EF4-FFF2-40B4-BE49-F238E27FC236}">
                    <a16:creationId xmlns:a16="http://schemas.microsoft.com/office/drawing/2014/main" id="{724E601A-E2A5-4745-ACC1-0620E981AD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95375" y="2162175"/>
                <a:ext cx="10001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t′ = t + s,     x′ = Rx + vt + a</a:t>
                </a:r>
              </a:p>
            </p:txBody>
          </p:sp>
        </mc:Fallback>
      </mc:AlternateContent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EBD85-80D1-4A9E-803E-103F3497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E6FE8-FFAA-46F9-8B8D-C681180D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81375"/>
            <a:ext cx="871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空间正交变换：旋转，也允许反射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57E6A-2378-4F86-870D-A22203F0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10172700" cy="9525"/>
          </a:xfrm>
          <a:custGeom xmlns:a="http://schemas.openxmlformats.org/drawingml/2006/main">
            <a:pathLst>
              <a:path w="10172700" h="9525">
                <a:moveTo>
                  <a:pt x="0" y="0"/>
                </a:moveTo>
                <a:lnTo>
                  <a:pt x="1017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87895-B913-4A14-B40D-54825F30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195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rPr>
              <a:t>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182B3-DD47-4973-B763-471850E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48125"/>
            <a:ext cx="871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两惯性系的匀速相对运动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BA102-6A3F-40A1-BD13-8F59EC19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172700" cy="9525"/>
          </a:xfrm>
          <a:custGeom xmlns:a="http://schemas.openxmlformats.org/drawingml/2006/main">
            <a:pathLst>
              <a:path w="10172700" h="9525">
                <a:moveTo>
                  <a:pt x="0" y="0"/>
                </a:moveTo>
                <a:lnTo>
                  <a:pt x="1017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65631-2E25-44E9-8C3D-AE1E1D3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D9713-3723-49A0-A7E0-CC30799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14875"/>
            <a:ext cx="871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空间原点的平移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D39CE-6D24-49D5-BEC0-31FD834F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10172700" cy="9525"/>
          </a:xfrm>
          <a:custGeom xmlns:a="http://schemas.openxmlformats.org/drawingml/2006/main">
            <a:pathLst>
              <a:path w="10172700" h="9525">
                <a:moveTo>
                  <a:pt x="0" y="0"/>
                </a:moveTo>
                <a:lnTo>
                  <a:pt x="10172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9F916-BFA5-4DA1-844B-77047EF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rPr>
              <a:t>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71193-BE97-4572-B71F-49126B9B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81625"/>
            <a:ext cx="871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时间原点的平移</a:t>
            </a:r>
          </a:p>
        </p:txBody>
      </p:sp>
    </p:spTree>
    <p:extLst>
      <p:ext uri="{BB962C8B-B14F-4D97-AF65-F5344CB8AC3E}">
        <p14:creationId xmlns:p14="http://schemas.microsoft.com/office/powerpoint/2010/main" val="71250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52388-C30C-4FE7-AD05-066B2D4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727CD-60F5-493B-892F-B7DDF5C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速度改变，加速度只随坐标旋转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1AE25-64A6-4928-B6B8-DF65BCEB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643DF-23C4-4A3F-860E-D414484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6, 9–10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253F9-3461-4BF3-9740-2BF16EE4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08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B85EA-3E3B-49A0-AEF7-D64D44B3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把 x′=Rx+vt+a 对时间求导。R 与 v 均为常量。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derivatives">
                <a:extLst xmlns:a="http://schemas.openxmlformats.org/drawingml/2006/main">
                  <a:ext uri="{FF2B5EF4-FFF2-40B4-BE49-F238E27FC236}">
                    <a16:creationId xmlns:a16="http://schemas.microsoft.com/office/drawing/2014/main" id="{EB2335DB-E06E-446B-AC6A-77D318C557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00125" y="2905125"/>
                <a:ext cx="4905375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300">
                          <a:latin typeface="Cambria Math"/>
                          <a:cs typeface="Cambria Math"/>
                        </a:rPr>
                        <m:t>ẋ′ = Rẋ + v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derivatives">
                <a:extLst xmlns:a="http://schemas.openxmlformats.org/drawingml/2006/main">
                  <a:ext uri="{FF2B5EF4-FFF2-40B4-BE49-F238E27FC236}">
                    <a16:creationId xmlns:a16="http://schemas.microsoft.com/office/drawing/2014/main" id="{EB2335DB-E06E-446B-AC6A-77D318C557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00125" y="2905125"/>
                <a:ext cx="4905375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ẋ′ = Rẋ + v</a:t>
                </a:r>
              </a:p>
            </p:txBody>
          </p:sp>
        </mc:Fallback>
      </mc:AlternateContent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8" name="EQ_acceltransform">
                <a:extLst xmlns:a="http://schemas.openxmlformats.org/drawingml/2006/main">
                  <a:ext uri="{FF2B5EF4-FFF2-40B4-BE49-F238E27FC236}">
                    <a16:creationId xmlns:a16="http://schemas.microsoft.com/office/drawing/2014/main" id="{23647557-A9BB-4A33-93EA-EB271355A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67500" y="2905125"/>
                <a:ext cx="44386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300">
                          <a:latin typeface="Cambria Math"/>
                          <a:cs typeface="Cambria Math"/>
                        </a:rPr>
                        <m:t>ẍ′ = Rẍ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EQ_acceltransform">
                <a:extLst xmlns:a="http://schemas.openxmlformats.org/drawingml/2006/main">
                  <a:ext uri="{FF2B5EF4-FFF2-40B4-BE49-F238E27FC236}">
                    <a16:creationId xmlns:a16="http://schemas.microsoft.com/office/drawing/2014/main" id="{23647557-A9BB-4A33-93EA-EB271355A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67500" y="2905125"/>
                <a:ext cx="44386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ẍ′ = Rẍ</a:t>
                </a:r>
              </a:p>
            </p:txBody>
          </p:sp>
        </mc:Fallback>
      </mc:AlternateContent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71AF5-6CA6-45B0-A467-5307D8AF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9525" cy="1400175"/>
          </a:xfrm>
          <a:custGeom xmlns:a="http://schemas.openxmlformats.org/drawingml/2006/main">
            <a:pathLst>
              <a:path w="9525" h="1400175">
                <a:moveTo>
                  <a:pt x="0" y="0"/>
                </a:moveTo>
                <a:lnTo>
                  <a:pt x="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5563A-3E7D-42CF-8561-BE5F3307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00475"/>
            <a:ext cx="48482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第一步：速度多出一个常向量。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27086-EE2B-4D8C-9B57-44E10BD2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004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第二步：再求导，匀速项消失。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C1825-D73A-4802-BFC9-5B578E1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7537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C1977-527A-4B74-AC83-E8F49F6B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24450"/>
            <a:ext cx="10296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课堂检查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5C311-4EAE-499B-B0C8-27BC833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76875"/>
            <a:ext cx="10296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若参考系在转动，R 依赖时间，结论还成立吗？</a:t>
            </a:r>
          </a:p>
        </p:txBody>
      </p:sp>
    </p:spTree>
    <p:extLst>
      <p:ext uri="{BB962C8B-B14F-4D97-AF65-F5344CB8AC3E}">
        <p14:creationId xmlns:p14="http://schemas.microsoft.com/office/powerpoint/2010/main" val="3782826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61B638-E7F5-47A4-8196-9506D40C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53DD-F723-4D6E-B12D-005FB305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运动、轨迹、世界线保留的信息不同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3FFBC-938D-40BA-8B3E-3D1E3328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8EDDB-D543-49E7-B056-1EC9BE02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7–8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2EBD6-00FA-4DD6-BBF5-34700589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09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CACE-E47A-415E-BF30-A78D51E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240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运动 x(t)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F016A-6514-425A-8361-78B88994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包含时间参数与位置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483A5-240C-4AA2-8AEB-7135BDE9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3000375" cy="9525"/>
          </a:xfrm>
          <a:custGeom xmlns:a="http://schemas.openxmlformats.org/drawingml/2006/main">
            <a:pathLst>
              <a:path w="3000375" h="9525">
                <a:moveTo>
                  <a:pt x="0" y="0"/>
                </a:move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8F43D-FFE9-4390-A8C3-D4FE4C81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轨迹 x(I)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9AC6B-DF71-40F7-9918-F782086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76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只看空间中的点集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2B0C1-E6BA-4B6E-8BA5-F99B8C05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67075"/>
            <a:ext cx="3000375" cy="9525"/>
          </a:xfrm>
          <a:custGeom xmlns:a="http://schemas.openxmlformats.org/drawingml/2006/main">
            <a:pathLst>
              <a:path w="3000375" h="9525">
                <a:moveTo>
                  <a:pt x="0" y="0"/>
                </a:move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926CA-AEA4-4685-BB22-18FCD605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240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世界线 (t,x(t))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3E548-6092-4A41-AF9B-A1666B9B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76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同时记录时刻与位置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F14BE-1DE1-483B-9816-7E26DAE4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67075"/>
            <a:ext cx="3000375" cy="9525"/>
          </a:xfrm>
          <a:custGeom xmlns:a="http://schemas.openxmlformats.org/drawingml/2006/main">
            <a:pathLst>
              <a:path w="3000375" h="9525">
                <a:moveTo>
                  <a:pt x="0" y="0"/>
                </a:moveTo>
                <a:lnTo>
                  <a:pt x="300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FD85C-274D-4009-89C6-F17CA13A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F42C0-CCD2-449A-9016-5F0CB076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36788A-F8DE-4656-8D7A-0A48863F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6B19E-40C9-4101-AD98-FD950A4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33DC1-E45A-4175-B315-C7F9BB8C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85D03-E14A-4FD8-A4DB-221110F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A1832-2E9A-4921-A1DB-688D2E6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BD72B3-EF42-42C9-A006-C3B55E9C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7D75F-7EE0-47A6-8CE4-726377A3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5F2A9-67DD-499D-AE32-2559229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D84D0-B8AA-42DE-B0F3-639928E5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6E80A-C9FB-4D96-A700-F871E1F1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F4EDF-9DBA-46ED-8555-7A4F7F6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38750"/>
            <a:ext cx="2505075" cy="9525"/>
          </a:xfrm>
          <a:custGeom xmlns:a="http://schemas.openxmlformats.org/drawingml/2006/main">
            <a:pathLst>
              <a:path w="2505075" h="9525">
                <a:moveTo>
                  <a:pt x="0" y="0"/>
                </a:moveTo>
                <a:lnTo>
                  <a:pt x="2505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7E9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C1E00-E284-4800-9316-6AE187B5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9525" cy="1543050"/>
          </a:xfrm>
          <a:custGeom xmlns:a="http://schemas.openxmlformats.org/drawingml/2006/main">
            <a:pathLst>
              <a:path w="9525" h="1543050">
                <a:moveTo>
                  <a:pt x="0" y="1543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7E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A8744F-60D8-4D2C-9072-8032F09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F36E56-A30C-48E9-B0D9-4DE74FB5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33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AD4B0-9F04-4F75-AE2E-6FCED6B6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64B633-445B-4763-947C-3D9A0ABF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B3BB7-977E-41F6-9AF7-0C05421D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497331-4573-47B4-937F-293A3D11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24D283-BE66-47B5-A689-D726C2A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28637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189080-4614-4942-B6E8-8335026E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385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9CB19-7B84-4D21-9013-EE93E46D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同一路径可走得快或慢。</a:t>
            </a:r>
          </a:p>
        </p:txBody>
      </p:sp>
    </p:spTree>
    <p:extLst>
      <p:ext uri="{BB962C8B-B14F-4D97-AF65-F5344CB8AC3E}">
        <p14:creationId xmlns:p14="http://schemas.microsoft.com/office/powerpoint/2010/main" val="2094505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A0F35-ABC3-4542-8B3F-F0A4DD1C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44055-71B0-4F08-89E0-61CD5B66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加速度分成切向与法向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4D33D-1F7C-40B4-83F8-7F820336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07B2B-DC41-4C07-9821-BD3003B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F593B-DEA5-48D6-ABCB-4167D936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10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652E8-499F-4528-BE52-5218B2F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切向分量改变速率，法向分量改变运动方向。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acceleration">
                <a:extLst xmlns:a="http://schemas.openxmlformats.org/drawingml/2006/main">
                  <a:ext uri="{FF2B5EF4-FFF2-40B4-BE49-F238E27FC236}">
                    <a16:creationId xmlns:a16="http://schemas.microsoft.com/office/drawing/2014/main" id="{EC369C2C-BB12-4450-A564-9D35C2D60A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1050" y="2790825"/>
                <a:ext cx="676275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075">
                          <a:latin typeface="Cambria Math"/>
                          <a:cs typeface="Cambria Math"/>
                        </a:rPr>
                        <m:t>ẍ = s̈ T + ṡ²κN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acceleration">
                <a:extLst xmlns:a="http://schemas.openxmlformats.org/drawingml/2006/main">
                  <a:ext uri="{FF2B5EF4-FFF2-40B4-BE49-F238E27FC236}">
                    <a16:creationId xmlns:a16="http://schemas.microsoft.com/office/drawing/2014/main" id="{EC369C2C-BB12-4450-A564-9D35C2D60A7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81050" y="2790825"/>
                <a:ext cx="6762750" cy="6858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0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0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0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ẍ = s̈ T + ṡ² κ N</a:t>
                </a:r>
              </a:p>
            </p:txBody>
          </p:sp>
        </mc:Fallback>
      </mc:AlternateContent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1640C-7D3D-4BE3-8255-82307C46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使用条件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716B4-620F-4737-8BB5-C6BE3D4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轨迹在所讨论点正则，弧长和单位切向量能够定义。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E7E95-63F6-4BDE-A581-D65BBCDBB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08134446a4683"/>
          <a:stretch xmlns:a="http://schemas.openxmlformats.org/drawingml/2006/main"/>
        </p:blipFill>
        <p:spPr>
          <a:xfrm xmlns:a="http://schemas.openxmlformats.org/drawingml/2006/main">
            <a:off x="7524750" y="2598501"/>
            <a:ext cx="3571875" cy="220392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BC949-5513-4FF9-B89C-FCDE8EB1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原书图 3（用户提供的课程资源包）</a:t>
            </a:r>
          </a:p>
        </p:txBody>
      </p:sp>
    </p:spTree>
    <p:extLst>
      <p:ext uri="{BB962C8B-B14F-4D97-AF65-F5344CB8AC3E}">
        <p14:creationId xmlns:p14="http://schemas.microsoft.com/office/powerpoint/2010/main" val="1198889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AA9AB-C2BE-49DB-B176-553ED1F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188C1-4A4B-4DBB-B3E9-D20C6D29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构形只有位置，状态还要速度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C802D-C4AB-4E0E-8D88-A67B953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18C89-D97C-440C-B570-90081D3A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393DA-F131-43F7-B8A9-F9E55B8C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11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1B0A3-57FA-4CEE-B328-869AF872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n 个三维质点的构形空间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configuration">
                <a:extLst xmlns:a="http://schemas.openxmlformats.org/drawingml/2006/main">
                  <a:ext uri="{FF2B5EF4-FFF2-40B4-BE49-F238E27FC236}">
                    <a16:creationId xmlns:a16="http://schemas.microsoft.com/office/drawing/2014/main" id="{F256BBCD-0CCE-4E3D-8FE3-146B4C3F27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2950" y="2476500"/>
                <a:ext cx="49530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300">
                          <a:latin typeface="Cambria Math"/>
                          <a:cs typeface="Cambria Math"/>
                        </a:rPr>
                        <m:t>Q = (ℝ³)ⁿ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configuration">
                <a:extLst xmlns:a="http://schemas.openxmlformats.org/drawingml/2006/main">
                  <a:ext uri="{FF2B5EF4-FFF2-40B4-BE49-F238E27FC236}">
                    <a16:creationId xmlns:a16="http://schemas.microsoft.com/office/drawing/2014/main" id="{F256BBCD-0CCE-4E3D-8FE3-146B4C3F27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42950" y="2476500"/>
                <a:ext cx="49530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Q = (ℝ³)ⁿ</a:t>
                </a:r>
              </a:p>
            </p:txBody>
          </p:sp>
        </mc:Fallback>
      </mc:AlternateContent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2E13D-A2F9-4C41-935E-076B711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76425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63A71-BDB0-4B06-8AE8-966D735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给定时刻的状态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0" name="EQ_state">
                <a:extLst xmlns:a="http://schemas.openxmlformats.org/drawingml/2006/main">
                  <a:ext uri="{FF2B5EF4-FFF2-40B4-BE49-F238E27FC236}">
                    <a16:creationId xmlns:a16="http://schemas.microsoft.com/office/drawing/2014/main" id="{966DF08B-D52D-4D1A-890F-740315C36F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86550" y="2476500"/>
                <a:ext cx="4667250" cy="885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700">
                          <a:latin typeface="Cambria Math"/>
                          <a:cs typeface="Cambria Math"/>
                        </a:rPr>
                        <m:t>(x₁,…,xₙ,v₁,…,vₙ)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EQ_state">
                <a:extLst xmlns:a="http://schemas.openxmlformats.org/drawingml/2006/main">
                  <a:ext uri="{FF2B5EF4-FFF2-40B4-BE49-F238E27FC236}">
                    <a16:creationId xmlns:a16="http://schemas.microsoft.com/office/drawing/2014/main" id="{966DF08B-D52D-4D1A-890F-740315C36F9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686550" y="2476500"/>
                <a:ext cx="4667250" cy="885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7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7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7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(x₁,…,xₙ, v₁,…,vₙ)</a:t>
                </a:r>
              </a:p>
            </p:txBody>
          </p:sp>
        </mc:Fallback>
      </mc:AlternateContent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BAFB1-1C75-412A-ADCE-2B46887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107537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4A7F8-6D23-405B-B305-7B9F671D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二阶方程改写为一阶系统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3" name="EQ_firstorder">
                <a:extLst xmlns:a="http://schemas.openxmlformats.org/drawingml/2006/main">
                  <a:ext uri="{FF2B5EF4-FFF2-40B4-BE49-F238E27FC236}">
                    <a16:creationId xmlns:a16="http://schemas.microsoft.com/office/drawing/2014/main" id="{3BE09F61-569C-4F78-9E0E-026BB90DE4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71550" y="4591050"/>
                <a:ext cx="923925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625">
                          <a:latin typeface="Cambria Math"/>
                          <a:cs typeface="Cambria Math"/>
                        </a:rPr>
                        <m:t>ẋ = v,    v̇ = F(x,v,t)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3" name="EQ_firstorder">
                <a:extLst xmlns:a="http://schemas.openxmlformats.org/drawingml/2006/main">
                  <a:ext uri="{FF2B5EF4-FFF2-40B4-BE49-F238E27FC236}">
                    <a16:creationId xmlns:a16="http://schemas.microsoft.com/office/drawing/2014/main" id="{3BE09F61-569C-4F78-9E0E-026BB90DE4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71550" y="4591050"/>
                <a:ext cx="9239250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ẋ = v,      v̇ = F(x,v,t)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31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EE8F8-FAD3-4FEF-AD40-46EC304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F5584-F0DE-45DB-9F0F-DDF5D0F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局部唯一性依赖方程右端的正则性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ED771-313E-4CC5-A4F3-38FE0040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579C2-6247-442F-A7CA-C24D3EDA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8, footnote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BCEAB-BE12-4783-8F47-B8F50AA4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12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ACDF4-7B0F-450A-8594-7F984D0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给定初值 (x₀,v₀) 后，先问能否在 t₀ 附近解方程。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8D183-DB83-4E08-9089-E0931B7C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9D4F8-4281-4333-A0D0-37D7DF38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足够条件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E8C8-9C05-42FA-8397-C0CA8356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400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右端对时间连续，对状态局部 Lipschitz。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65EC5-4860-4A35-8073-C74C52F3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911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B5689-2119-4415-A1A6-752CBB04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得到的结论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A8CA1-2C81-482A-9816-F23CDD69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4533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初始时刻附近存在唯一解。它只在某个局部时间区间内有保证。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C10A9-7E2E-4655-BBD4-18CE2C9D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7905750" cy="9525"/>
          </a:xfrm>
          <a:custGeom xmlns:a="http://schemas.openxmlformats.org/drawingml/2006/main">
            <a:pathLst>
              <a:path w="7905750" h="9525">
                <a:moveTo>
                  <a:pt x="0" y="0"/>
                </a:moveTo>
                <a:lnTo>
                  <a:pt x="790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7E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0CB07-B2B4-4810-BC5A-E97562B1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24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7411-F3FD-4AF8-BF74-068D075A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38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238D8C"/>
                </a:solidFill>
                <a:latin typeface="Cambria Math"/>
                <a:ea typeface="Cambria Math"/>
                <a:cs typeface="Cambria Math"/>
              </a:rPr>
              <a:t>t₀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82644-9209-4D12-B878-5B347B05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72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碰撞奇点或解的爆破可能阻止全时间延拓。</a:t>
            </a:r>
          </a:p>
        </p:txBody>
      </p:sp>
    </p:spTree>
    <p:extLst>
      <p:ext uri="{BB962C8B-B14F-4D97-AF65-F5344CB8AC3E}">
        <p14:creationId xmlns:p14="http://schemas.microsoft.com/office/powerpoint/2010/main" val="321295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7BB16-CA12-4110-9EFB-EC9E3564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D8965-974C-4AA1-839C-5682EB0B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封闭系统的方程应以相对量描述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57890-5D72-4CE7-9CF5-EC4684C9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7F2F-6257-4534-B609-3B322665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9–10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36E93-F41E-4273-8816-BB4359CA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13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4996A-FFA8-47E4-9147-558E8E58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907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时间、空间平移与匀速变换，不应改变封闭系统的物理定律。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relative">
                <a:extLst xmlns:a="http://schemas.openxmlformats.org/drawingml/2006/main">
                  <a:ext uri="{FF2B5EF4-FFF2-40B4-BE49-F238E27FC236}">
                    <a16:creationId xmlns:a16="http://schemas.microsoft.com/office/drawing/2014/main" id="{4E1F0BA4-F430-4BFB-BE7F-358A19F775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09875"/>
                <a:ext cx="981075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000">
                          <a:latin typeface="Cambria Math"/>
                          <a:cs typeface="Cambria Math"/>
                        </a:rPr>
                        <m:t>xⱼ−xₖ,    ẋⱼ−ẋₖ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relative">
                <a:extLst xmlns:a="http://schemas.openxmlformats.org/drawingml/2006/main">
                  <a:ext uri="{FF2B5EF4-FFF2-40B4-BE49-F238E27FC236}">
                    <a16:creationId xmlns:a16="http://schemas.microsoft.com/office/drawing/2014/main" id="{4E1F0BA4-F430-4BFB-BE7F-358A19F775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09875"/>
                <a:ext cx="9810750" cy="762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0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0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0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xⱼ − xₖ,       ẋⱼ − ẋₖ</a:t>
                </a:r>
              </a:p>
            </p:txBody>
          </p:sp>
        </mc:Fallback>
      </mc:AlternateContent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9E152-5315-48D5-9627-C3B9AF3D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620375" cy="9525"/>
          </a:xfrm>
          <a:custGeom xmlns:a="http://schemas.openxmlformats.org/drawingml/2006/main">
            <a:pathLst>
              <a:path w="10620375" h="9525">
                <a:moveTo>
                  <a:pt x="0" y="0"/>
                </a:moveTo>
                <a:lnTo>
                  <a:pt x="1062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3FF1D-D39A-4EE0-B262-3C2C60D4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为什么是相对位置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0F881-ADE5-4AC9-957F-7DAB0C1D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整体平移使每个 xⱼ 增加同一个常向量，差值不变。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95A0A-5C8F-4143-84E9-E886C370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为什么是相对速度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7811E-A530-4140-8BC0-62DF2F23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匀速参考系变换使每个 ẋⱼ 增加同一个常向量，差值不变。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CDFDC-ECFF-4D4B-AF73-6740D43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外界作用可为开放子系统引入特殊方向或显含时间。</a:t>
            </a:r>
          </a:p>
        </p:txBody>
      </p:sp>
    </p:spTree>
    <p:extLst>
      <p:ext uri="{BB962C8B-B14F-4D97-AF65-F5344CB8AC3E}">
        <p14:creationId xmlns:p14="http://schemas.microsoft.com/office/powerpoint/2010/main" val="365751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9DCA2-28C7-4A71-8F9B-AE2AECF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C1B5B-3DED-4F3B-8C3C-2BCDF00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“旋转后仍是解”写成等变条件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C87D5-E7F7-4BF5-B195-C65CE82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9BA0E-466D-463D-AE44-CFDCFFF1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479E1-C171-4D51-BFBF-0764B57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14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B4117-8701-4A15-BF89-C1EF8DD1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同时旋转所有质点的位置与速度，力向量必须随之旋转。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33156-EBE4-4778-85FE-C3FDF77D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1343025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8" name="EQ_equivariance">
                <a:extLst xmlns:a="http://schemas.openxmlformats.org/drawingml/2006/main">
                  <a:ext uri="{FF2B5EF4-FFF2-40B4-BE49-F238E27FC236}">
                    <a16:creationId xmlns:a16="http://schemas.microsoft.com/office/drawing/2014/main" id="{8F6D85A7-C6C0-42B3-A006-02B330BC93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38225" y="3257550"/>
                <a:ext cx="97155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225">
                          <a:latin typeface="Cambria Math"/>
                          <a:cs typeface="Cambria Math"/>
                        </a:rPr>
                        <m:t>F(Rx,Rẋ) = RF(x,ẋ)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EQ_equivariance">
                <a:extLst xmlns:a="http://schemas.openxmlformats.org/drawingml/2006/main">
                  <a:ext uri="{FF2B5EF4-FFF2-40B4-BE49-F238E27FC236}">
                    <a16:creationId xmlns:a16="http://schemas.microsoft.com/office/drawing/2014/main" id="{8F6D85A7-C6C0-42B3-A006-02B330BC932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38225" y="3257550"/>
                <a:ext cx="97155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2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F(Rx, Rẋ) = R F(x, ẋ)</a:t>
                </a:r>
              </a:p>
            </p:txBody>
          </p:sp>
        </mc:Fallback>
      </mc:AlternateContent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74EBA-C8E0-4EFA-8E30-3CE17B07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在本章模型中，R 属于正交群；反射也属于结构变换。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EE6A7-C86F-4B76-9DEA-D59064D5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这不意味着所有物理相互作用都满足宇称不变。</a:t>
            </a:r>
          </a:p>
        </p:txBody>
      </p:sp>
    </p:spTree>
    <p:extLst>
      <p:ext uri="{BB962C8B-B14F-4D97-AF65-F5344CB8AC3E}">
        <p14:creationId xmlns:p14="http://schemas.microsoft.com/office/powerpoint/2010/main" val="9860816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AF305-1526-4566-A593-69208CD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BC05E-2C32-423A-9E79-5A87FC29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对称初值把运动约束在初始连线上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80E30-800C-43E4-B1E3-F38B0593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BE6E3-5095-46FB-BBCB-B2EE208E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10, problem p010-2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74131-E3D9-497D-9A29-50DE40E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15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E0B46-7D40-4701-98DE-FA086BC0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两质点初速度为零，初始位置给出一条直线。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9C647-7933-43AB-A3C7-DE27833F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AC57D-A583-48A6-AEF4-9219B5AA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BFB6E-188A-454C-809E-DA537529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146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绕初始连线旋转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8F540-FC0B-47B1-AE30-56CD954E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1462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初始位置与零速度都不变。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D02DE-3838-4169-AF0D-323F6A1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48025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FDCB4-6006-4A9B-8915-8B4ABF1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71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D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CC688D-5966-4BC0-9634-B73FF391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AC6C3-A668-4FEB-AF36-090F55A7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433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对旋转后的运动用唯一性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3E53C-5757-41AB-95AC-4FC43116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74332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它与原运动有同一初值，故在解存在区间内相同。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99118-86B5-4A16-B121-605FCA1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76725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5D928-4C9E-449D-90F2-56D772B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00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38488-657F-4DB9-B773-8B10E9DB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95C41-7597-4AA8-A75A-3FE5A6DA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取全部旋转的共同固定点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71FEA-7557-40C8-B4A5-0D1356D4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7202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两质点始终留在初始连线上。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DA003-5317-410C-8F25-182F004D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912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须先确认方程在所考察状态附近有定义，且解唯一。</a:t>
            </a:r>
          </a:p>
        </p:txBody>
      </p:sp>
    </p:spTree>
    <p:extLst>
      <p:ext uri="{BB962C8B-B14F-4D97-AF65-F5344CB8AC3E}">
        <p14:creationId xmlns:p14="http://schemas.microsoft.com/office/powerpoint/2010/main" val="21030652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DDEC5-6F5C-4A56-87BD-989590B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48572-7C67-46E8-837F-0D77B7B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保守力由构形空间上的势能决定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9C424-ACB6-4B31-869D-A2521AE6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5FF9E-0846-4FBE-AE00-105F87FE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13–14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65574-DEE0-4573-8B0C-4FD8B0C3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16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CAFE9-0F74-44E6-84AE-A12068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势能 U 是整个系统构形的函数。每个质点的力取其负梯度。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C27F1-51CC-4582-95AA-F7C07C5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107251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8" name="EQ_conservative">
                <a:extLst xmlns:a="http://schemas.openxmlformats.org/drawingml/2006/main">
                  <a:ext uri="{FF2B5EF4-FFF2-40B4-BE49-F238E27FC236}">
                    <a16:creationId xmlns:a16="http://schemas.microsoft.com/office/drawing/2014/main" id="{F84D589C-0F83-4616-ADF5-77140D1B8A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38225" y="3171825"/>
                <a:ext cx="9525000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150">
                          <a:latin typeface="Cambria Math"/>
                          <a:cs typeface="Cambria Math"/>
                        </a:rPr>
                        <m:t>mᵢẍᵢ = −∇ₓᵢU(x)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EQ_conservative">
                <a:extLst xmlns:a="http://schemas.openxmlformats.org/drawingml/2006/main">
                  <a:ext uri="{FF2B5EF4-FFF2-40B4-BE49-F238E27FC236}">
                    <a16:creationId xmlns:a16="http://schemas.microsoft.com/office/drawing/2014/main" id="{F84D589C-0F83-4616-ADF5-77140D1B8A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38225" y="3171825"/>
                <a:ext cx="9525000" cy="781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1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1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1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mᵢ ẍᵢ = −∇ₓᵢ U(x)</a:t>
                </a:r>
              </a:p>
            </p:txBody>
          </p:sp>
        </mc:Fallback>
      </mc:AlternateContent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DB982-FDD6-495C-9D30-D0B9971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加常数无影响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300F7-C7AE-4EE8-A035-011F099E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U 与 U+C 给出同一个力场。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0AA73-67DA-45CC-9153-A057609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只在定义域内使用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115AC-5CF4-44A5-B739-4A1B12D1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7682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碰撞处势能可能不光滑，方程须限制在可微区域。</a:t>
            </a:r>
          </a:p>
        </p:txBody>
      </p:sp>
    </p:spTree>
    <p:extLst>
      <p:ext uri="{BB962C8B-B14F-4D97-AF65-F5344CB8AC3E}">
        <p14:creationId xmlns:p14="http://schemas.microsoft.com/office/powerpoint/2010/main" val="5253186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C757A-60CA-432C-8512-2F08F3DD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5148E-EE53-43D7-8F17-8C6064A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能量守恒：把方程沿运动方向相乘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CCF88-CE15-4C70-86B5-51F4695A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EA702-5AEC-4787-ABFB-4F149A22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12–14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EB329-7AD8-47DD-996B-590BEB78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17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87214-38D3-4F78-BE3B-56DD29D5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049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无显含时间的势能与保守力，给出动能和势能的抵消。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62CE1-37D1-4036-A07D-BBBD09EA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8" name="EQ_energy">
                <a:extLst xmlns:a="http://schemas.openxmlformats.org/drawingml/2006/main">
                  <a:ext uri="{FF2B5EF4-FFF2-40B4-BE49-F238E27FC236}">
                    <a16:creationId xmlns:a16="http://schemas.microsoft.com/office/drawing/2014/main" id="{7AD9D35E-42A6-4777-8024-F67B162FB4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00175" y="2714625"/>
                <a:ext cx="98107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475">
                          <a:latin typeface="Cambria Math"/>
                          <a:cs typeface="Cambria Math"/>
                        </a:rPr>
                        <m:t>E = Σᵢ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75">
                              <a:latin typeface="Cambria Math"/>
                              <a:cs typeface="Cambria Math"/>
                            </a:rPr>
                            <m:t>mᵢ‖ẋᵢ‖²</m:t>
                          </m:r>
                        </m:num>
                        <m:den>
                          <m:r>
                            <a:rPr lang="en-US" sz="2475"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475">
                          <a:latin typeface="Cambria Math"/>
                          <a:cs typeface="Cambria Math"/>
                        </a:rPr>
                        <m:t> + U(x)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EQ_energy">
                <a:extLst xmlns:a="http://schemas.openxmlformats.org/drawingml/2006/main">
                  <a:ext uri="{FF2B5EF4-FFF2-40B4-BE49-F238E27FC236}">
                    <a16:creationId xmlns:a16="http://schemas.microsoft.com/office/drawing/2014/main" id="{7AD9D35E-42A6-4777-8024-F67B162FB4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00175" y="2714625"/>
                <a:ext cx="98107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4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4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E = Σᵢ (mᵢ/2) ‖ẋᵢ‖² + U(x)</a:t>
                </a:r>
              </a:p>
            </p:txBody>
          </p:sp>
        </mc:Fallback>
      </mc:AlternateContent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6C66A-3934-4BF4-8322-ABAE6A0A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81375"/>
            <a:ext cx="9877425" cy="9525"/>
          </a:xfrm>
          <a:custGeom xmlns:a="http://schemas.openxmlformats.org/drawingml/2006/main">
            <a:pathLst>
              <a:path w="9877425" h="9525">
                <a:moveTo>
                  <a:pt x="0" y="0"/>
                </a:moveTo>
                <a:lnTo>
                  <a:pt x="9877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212D5-FC7A-4474-B09F-2E2651A2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1" name="EQ_energy-rate">
                <a:extLst xmlns:a="http://schemas.openxmlformats.org/drawingml/2006/main">
                  <a:ext uri="{FF2B5EF4-FFF2-40B4-BE49-F238E27FC236}">
                    <a16:creationId xmlns:a16="http://schemas.microsoft.com/office/drawing/2014/main" id="{9A7909D9-80A4-49CB-B9C6-8F8D83E55D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00175" y="3638550"/>
                <a:ext cx="98107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175">
                          <a:latin typeface="Cambria Math"/>
                          <a:cs typeface="Cambria Math"/>
                        </a:rPr>
                        <m:t>dE/dt = Σᵢ mᵢẍᵢ·ẋᵢ + Σᵢ∇ₓᵢU·ẋᵢ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EQ_energy-rate">
                <a:extLst xmlns:a="http://schemas.openxmlformats.org/drawingml/2006/main">
                  <a:ext uri="{FF2B5EF4-FFF2-40B4-BE49-F238E27FC236}">
                    <a16:creationId xmlns:a16="http://schemas.microsoft.com/office/drawing/2014/main" id="{9A7909D9-80A4-49CB-B9C6-8F8D83E55D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00175" y="3638550"/>
                <a:ext cx="98107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1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1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dE/dt = Σᵢ mᵢẍᵢ · ẋᵢ + Σᵢ ∇ₓᵢU · ẋᵢ</a:t>
                </a:r>
              </a:p>
            </p:txBody>
          </p:sp>
        </mc:Fallback>
      </mc:AlternateContent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25984-DBC7-4910-98C5-90C4DCB3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305300"/>
            <a:ext cx="9877425" cy="9525"/>
          </a:xfrm>
          <a:custGeom xmlns:a="http://schemas.openxmlformats.org/drawingml/2006/main">
            <a:pathLst>
              <a:path w="9877425" h="9525">
                <a:moveTo>
                  <a:pt x="0" y="0"/>
                </a:moveTo>
                <a:lnTo>
                  <a:pt x="9877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0994F-859E-41F5-BEA3-5AB82325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4" name="EQ_energy-zero">
                <a:extLst xmlns:a="http://schemas.openxmlformats.org/drawingml/2006/main">
                  <a:ext uri="{FF2B5EF4-FFF2-40B4-BE49-F238E27FC236}">
                    <a16:creationId xmlns:a16="http://schemas.microsoft.com/office/drawing/2014/main" id="{53BA73F8-1BF3-4241-B11C-D490B5C7FE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00175" y="4562475"/>
                <a:ext cx="98107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475">
                          <a:latin typeface="Cambria Math"/>
                          <a:cs typeface="Cambria Math"/>
                        </a:rPr>
                        <m:t>mᵢẍᵢ = −∇ₓᵢU  ⇒  dE/dt = 0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" name="EQ_energy-zero">
                <a:extLst xmlns:a="http://schemas.openxmlformats.org/drawingml/2006/main">
                  <a:ext uri="{FF2B5EF4-FFF2-40B4-BE49-F238E27FC236}">
                    <a16:creationId xmlns:a16="http://schemas.microsoft.com/office/drawing/2014/main" id="{53BA73F8-1BF3-4241-B11C-D490B5C7FE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00175" y="4562475"/>
                <a:ext cx="9810750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4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4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mᵢẍᵢ = −∇ₓᵢU     ⇒     dE/dt = 0</a:t>
                </a:r>
              </a:p>
            </p:txBody>
          </p:sp>
        </mc:Fallback>
      </mc:AlternateContent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540E6-ADAB-4E88-893E-440FF0C1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若存在耗散力或势能显含时间，右端不再自动为零。</a:t>
            </a:r>
          </a:p>
        </p:txBody>
      </p:sp>
    </p:spTree>
    <p:extLst>
      <p:ext uri="{BB962C8B-B14F-4D97-AF65-F5344CB8AC3E}">
        <p14:creationId xmlns:p14="http://schemas.microsoft.com/office/powerpoint/2010/main" val="332276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C2290-48FE-4AA0-947D-C5F3E9D6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76823-BCA5-475B-87E3-74F8BC24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三种势能模型对应三套尺度和零点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C20BD-3F88-45B8-B2D8-087015D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9A2B9-CC49-40BC-8F2C-91359BCA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11–13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28E67-E320-4066-A8C4-ABA0A44F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18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CB7AC-50E2-45A9-A704-369C2F20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所有 U 均取每单位质量的势能，便于直接比较加速度。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1438A-522D-4129-AA08-D249DD88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41682-0B34-4CF1-9149-0C549C6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单位质量势能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C23C0-FA71-4BF3-99DF-FC6D61B2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坐标与适用条件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46121-E9D9-4EDB-9902-58FEB02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72481-4FE4-4F0E-AB11-C5C21A15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近地常重力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2" name="EQ_potential-0">
                <a:extLst xmlns:a="http://schemas.openxmlformats.org/drawingml/2006/main">
                  <a:ext uri="{FF2B5EF4-FFF2-40B4-BE49-F238E27FC236}">
                    <a16:creationId xmlns:a16="http://schemas.microsoft.com/office/drawing/2014/main" id="{8ADD5458-BE96-44EB-AC03-44E8D8C2B3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3333750"/>
                <a:ext cx="30003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100">
                          <a:latin typeface="Cambria Math"/>
                          <a:cs typeface="Cambria Math"/>
                        </a:rPr>
                        <m:t>U(z) = gz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EQ_potential-0">
                <a:extLst xmlns:a="http://schemas.openxmlformats.org/drawingml/2006/main">
                  <a:ext uri="{FF2B5EF4-FFF2-40B4-BE49-F238E27FC236}">
                    <a16:creationId xmlns:a16="http://schemas.microsoft.com/office/drawing/2014/main" id="{8ADD5458-BE96-44EB-AC03-44E8D8C2B3B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3333750"/>
                <a:ext cx="30003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U(z)=gz</a:t>
                </a:r>
              </a:p>
            </p:txBody>
          </p:sp>
        </mc:Fallback>
      </mc:AlternateContent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534A5-221E-4E8C-911B-C9D85265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z 从地面向上，g 近似常数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3E245-22E0-4B0D-B3CB-7F6C577A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09F82-EC02-48D8-9CF2-2D533EEC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小伸长弹簧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6" name="EQ_potential-1">
                <a:extLst xmlns:a="http://schemas.openxmlformats.org/drawingml/2006/main">
                  <a:ext uri="{FF2B5EF4-FFF2-40B4-BE49-F238E27FC236}">
                    <a16:creationId xmlns:a16="http://schemas.microsoft.com/office/drawing/2014/main" id="{966B17D5-FF0F-4C6A-98A6-1B6F7C5466F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4248150"/>
                <a:ext cx="30003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100">
                          <a:latin typeface="Cambria Math"/>
                          <a:cs typeface="Cambria Math"/>
                        </a:rPr>
                        <m:t>U(x) =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100">
                              <a:latin typeface="Cambria Math"/>
                              <a:cs typeface="Cambria Math"/>
                            </a:rPr>
                            <m:t>α²x²</m:t>
                          </m:r>
                        </m:num>
                        <m:den>
                          <m:r>
                            <a:rPr lang="en-US" sz="2100"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6" name="EQ_potential-1">
                <a:extLst xmlns:a="http://schemas.openxmlformats.org/drawingml/2006/main">
                  <a:ext uri="{FF2B5EF4-FFF2-40B4-BE49-F238E27FC236}">
                    <a16:creationId xmlns:a16="http://schemas.microsoft.com/office/drawing/2014/main" id="{966B17D5-FF0F-4C6A-98A6-1B6F7C5466F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4248150"/>
                <a:ext cx="30003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U(x)=α²x²/2</a:t>
                </a:r>
              </a:p>
            </p:txBody>
          </p:sp>
        </mc:Fallback>
      </mc:AlternateContent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B523B-82DF-45E4-B465-8E04A37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x 是偏离平衡位置的位移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64450-775E-4A7B-9CF4-133AEAE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D4321-42DA-4920-A378-E6D9E375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逆平方引力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20" name="EQ_potential-2">
                <a:extLst xmlns:a="http://schemas.openxmlformats.org/drawingml/2006/main">
                  <a:ext uri="{FF2B5EF4-FFF2-40B4-BE49-F238E27FC236}">
                    <a16:creationId xmlns:a16="http://schemas.microsoft.com/office/drawing/2014/main" id="{90DFE0F4-4FCE-47CF-AFEC-BE5E4489A9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5162550"/>
                <a:ext cx="30003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100">
                          <a:latin typeface="Cambria Math"/>
                          <a:cs typeface="Cambria Math"/>
                        </a:rPr>
                        <m:t>U(r) = 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100">
                              <a:latin typeface="Cambria Math"/>
                              <a:cs typeface="Cambria Math"/>
                            </a:rPr>
                            <m:t>k</m:t>
                          </m:r>
                        </m:num>
                        <m:den>
                          <m:r>
                            <a:rPr lang="en-US" sz="2100">
                              <a:latin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0" name="EQ_potential-2">
                <a:extLst xmlns:a="http://schemas.openxmlformats.org/drawingml/2006/main">
                  <a:ext uri="{FF2B5EF4-FFF2-40B4-BE49-F238E27FC236}">
                    <a16:creationId xmlns:a16="http://schemas.microsoft.com/office/drawing/2014/main" id="{90DFE0F4-4FCE-47CF-AFEC-BE5E4489A9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524250" y="5162550"/>
                <a:ext cx="3000375" cy="571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U(r)=−k/r</a:t>
                </a:r>
              </a:p>
            </p:txBody>
          </p:sp>
        </mc:Fallback>
      </mc:AlternateContent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5FF04-C6B2-4617-9C3F-61D3C4C0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625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r 从地心量起，U(∞)=0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D96F2-7A45-46B9-846A-8DE676D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近地的 gz 不能外推到任意远处。</a:t>
            </a:r>
          </a:p>
        </p:txBody>
      </p:sp>
    </p:spTree>
    <p:extLst>
      <p:ext uri="{BB962C8B-B14F-4D97-AF65-F5344CB8AC3E}">
        <p14:creationId xmlns:p14="http://schemas.microsoft.com/office/powerpoint/2010/main" val="2124999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D74C8-C22E-4E7E-90AD-CE3D63D3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212D4-89A6-460F-A233-FB3C741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逃逸问题先限定物理模型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8BAA8-B010-4EBB-9A03-F96B85E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03B55-694A-4473-AF3D-2A5BC1BF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22CCD-E1F2-43CE-A748-7759A9B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19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92A3C-35BB-451B-A775-E1593E5A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049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地球逆平方引力，径向向外发射；忽略空气、地球自转与太阳引力。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85066-1DBA-4681-B368-F7C2B6E0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623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6680F-BAB1-4BFA-8361-DF314A1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地球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FAB03-97E4-4F33-B2B6-D2E55FC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3257550" cy="9525"/>
          </a:xfrm>
          <a:custGeom xmlns:a="http://schemas.openxmlformats.org/drawingml/2006/main">
            <a:pathLst>
              <a:path w="3257550" h="952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38D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55F32-902B-45BC-AD7E-D2C5844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52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A7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2AAEB-77D9-4494-A0A4-C26347F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63B53"/>
                </a:solidFill>
                <a:latin typeface="Cambria Math"/>
                <a:ea typeface="Cambria Math"/>
                <a:cs typeface="Cambria Math"/>
              </a:rPr>
              <a:t>r₀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36FD5-DAC2-4535-BA43-69A935B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03B6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3B67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103B67"/>
                </a:solidFill>
                <a:latin typeface="Cambria Math"/>
                <a:ea typeface="Cambria Math"/>
                <a:cs typeface="Cambria Math"/>
              </a:rPr>
              <a:t>r → 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A6278-7775-4CA8-8882-ADDE99DD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19425"/>
            <a:ext cx="289560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43C9E-40ED-4B33-9879-1CAACDB5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05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势能零点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5" name="EQ_inverse">
                <a:extLst xmlns:a="http://schemas.openxmlformats.org/drawingml/2006/main">
                  <a:ext uri="{FF2B5EF4-FFF2-40B4-BE49-F238E27FC236}">
                    <a16:creationId xmlns:a16="http://schemas.microsoft.com/office/drawing/2014/main" id="{31DAA38F-5668-4BDE-8EEB-59F237981C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686800" y="3838575"/>
                <a:ext cx="2476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250">
                          <a:latin typeface="Cambria Math"/>
                          <a:cs typeface="Cambria Math"/>
                        </a:rPr>
                        <m:t>U(r) = 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250">
                              <a:latin typeface="Cambria Math"/>
                              <a:cs typeface="Cambria Math"/>
                            </a:rPr>
                            <m:t>k</m:t>
                          </m:r>
                        </m:num>
                        <m:den>
                          <m:r>
                            <a:rPr lang="en-US" sz="2250">
                              <a:latin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5" name="EQ_inverse">
                <a:extLst xmlns:a="http://schemas.openxmlformats.org/drawingml/2006/main">
                  <a:ext uri="{FF2B5EF4-FFF2-40B4-BE49-F238E27FC236}">
                    <a16:creationId xmlns:a16="http://schemas.microsoft.com/office/drawing/2014/main" id="{31DAA38F-5668-4BDE-8EEB-59F237981C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686800" y="3838575"/>
                <a:ext cx="24765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2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2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U(r) = −k/r</a:t>
                </a:r>
              </a:p>
            </p:txBody>
          </p:sp>
        </mc:Fallback>
      </mc:AlternateContent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E4A83-0E7F-4AE5-B743-8A97AD53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48200"/>
            <a:ext cx="238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63B53"/>
                </a:solidFill>
                <a:latin typeface="Cambria Math"/>
                <a:ea typeface="Cambria Math"/>
                <a:cs typeface="Cambria Math"/>
              </a:rPr>
              <a:t>U(∞)=0，k=gr₀²</a:t>
            </a:r>
          </a:p>
        </p:txBody>
      </p:sp>
    </p:spTree>
    <p:extLst>
      <p:ext uri="{BB962C8B-B14F-4D97-AF65-F5344CB8AC3E}">
        <p14:creationId xmlns:p14="http://schemas.microsoft.com/office/powerpoint/2010/main" val="14850512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01C81-9EAE-4C97-98C0-3FF83297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806A-C337-4BED-805A-337F0599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零能量是恰好逃逸的门槛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82124-0998-4691-80BB-2FFC729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1A1C6-E0F1-4112-AA93-C2E43781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D3855-0781-4C16-8D8A-8191F53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20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D4874-6866-4C8B-975A-A712C827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33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远处 U→0。若要到达任意远处，初始总能量至少为零。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2531F-DB68-467E-B565-4A6A284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0"/>
            <a:ext cx="6286500" cy="9525"/>
          </a:xfrm>
          <a:custGeom xmlns:a="http://schemas.openxmlformats.org/drawingml/2006/main"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7E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01EC5-E09A-4CBA-B6C4-2C7E6D70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9525" cy="2381250"/>
          </a:xfrm>
          <a:custGeom xmlns:a="http://schemas.openxmlformats.org/drawingml/2006/main">
            <a:pathLst>
              <a:path w="9525" h="2381250">
                <a:moveTo>
                  <a:pt x="0" y="0"/>
                </a:moveTo>
                <a:lnTo>
                  <a:pt x="0" y="2381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7E9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AAE47-6354-4FDA-BE9A-16F0F4A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191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67E92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E92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667E92"/>
                </a:solidFill>
                <a:latin typeface="Cambria Math"/>
                <a:ea typeface="Cambria Math"/>
                <a:cs typeface="Cambria Math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2CB6F-6CAD-4645-AA8F-AFEA231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67E92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67E92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667E92"/>
                </a:solidFill>
                <a:latin typeface="Cambria Math"/>
                <a:ea typeface="Cambria Math"/>
                <a:cs typeface="Cambria Math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2405B-9EC8-464E-86E5-EFF52138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95775"/>
            <a:ext cx="638175" cy="571500"/>
          </a:xfrm>
          <a:custGeom xmlns:a="http://schemas.openxmlformats.org/drawingml/2006/main">
            <a:pathLst>
              <a:path w="638175" h="571500">
                <a:moveTo>
                  <a:pt x="0" y="57150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5A9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7537C-5DB5-4F19-82B8-6C7095A1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62000" cy="295275"/>
          </a:xfrm>
          <a:custGeom xmlns:a="http://schemas.openxmlformats.org/drawingml/2006/main">
            <a:pathLst>
              <a:path w="762000" h="295275">
                <a:moveTo>
                  <a:pt x="0" y="295275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5A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8DFAC-5AD3-4624-BD19-DA06C88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952500" cy="171450"/>
          </a:xfrm>
          <a:custGeom xmlns:a="http://schemas.openxmlformats.org/drawingml/2006/main">
            <a:pathLst>
              <a:path w="952500" h="171450">
                <a:moveTo>
                  <a:pt x="0" y="17145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5A9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ACBEE-A903-4730-9B0B-0526F82F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05225"/>
            <a:ext cx="1047750" cy="123825"/>
          </a:xfrm>
          <a:custGeom xmlns:a="http://schemas.openxmlformats.org/drawingml/2006/main">
            <a:pathLst>
              <a:path w="1047750" h="123825">
                <a:moveTo>
                  <a:pt x="0" y="123825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5A9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DE6D1-CE5B-4ED2-801F-C3AC1A11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333500" cy="85725"/>
          </a:xfrm>
          <a:custGeom xmlns:a="http://schemas.openxmlformats.org/drawingml/2006/main">
            <a:pathLst>
              <a:path w="1333500" h="85725">
                <a:moveTo>
                  <a:pt x="0" y="85725"/>
                </a:move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5A9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C72CA-6EBC-482D-A3D7-BFD5003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1162050" cy="47625"/>
          </a:xfrm>
          <a:custGeom xmlns:a="http://schemas.openxmlformats.org/drawingml/2006/main">
            <a:pathLst>
              <a:path w="1162050" h="47625">
                <a:moveTo>
                  <a:pt x="0" y="47625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5A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EDD27-9DA4-4AF7-8094-C2554303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5905500" cy="9525"/>
          </a:xfrm>
          <a:custGeom xmlns:a="http://schemas.openxmlformats.org/drawingml/2006/main"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A7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7C1B8-C609-45C3-981F-0D598CED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52775"/>
            <a:ext cx="5905500" cy="9525"/>
          </a:xfrm>
          <a:custGeom xmlns:a="http://schemas.openxmlformats.org/drawingml/2006/main"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38D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3F835-9D6D-4304-B837-A657A5DC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5905500" cy="9525"/>
          </a:xfrm>
          <a:custGeom xmlns:a="http://schemas.openxmlformats.org/drawingml/2006/main"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CAF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C07F9-E780-4929-B0C2-F57DB134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E&gt;0：远处仍有动能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615F8-A2BE-44EA-99F7-9A3DDBD4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E=0：远处速度趋于零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0CD15-9589-4038-B43F-A8DC252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E&lt;0：不能到达无穷远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AF43E-C0A7-40C1-9605-9D9A71FA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9592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蓝线：U(r)=−k/r</a:t>
            </a:r>
          </a:p>
        </p:txBody>
      </p:sp>
    </p:spTree>
    <p:extLst>
      <p:ext uri="{BB962C8B-B14F-4D97-AF65-F5344CB8AC3E}">
        <p14:creationId xmlns:p14="http://schemas.microsoft.com/office/powerpoint/2010/main" val="13432599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B0E65-DBE2-4E69-824D-07C705D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6C300-522E-4EC2-A23A-27623D11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由初始能量求逃逸速度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635CD-172D-4A86-B3F1-E8237066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3F29-D4F2-470D-B508-EC5B9DC4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847CC-0E78-40C7-A244-62D4C048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21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E3677-26C3-4F02-8F3A-48F19E2D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使用每单位质量能量，发射体质量自动消去。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979C5-406D-49A4-AB35-3FF2580C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717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7B344-64AD-411A-8CD2-9F58448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地表初值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9" name="EQ_initialenergy">
                <a:extLst xmlns:a="http://schemas.openxmlformats.org/drawingml/2006/main">
                  <a:ext uri="{FF2B5EF4-FFF2-40B4-BE49-F238E27FC236}">
                    <a16:creationId xmlns:a16="http://schemas.microsoft.com/office/drawing/2014/main" id="{91D70EE6-5593-4AAC-9E39-DD12F76A30E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0" y="2619375"/>
                <a:ext cx="700087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>
                          <a:latin typeface="Cambria Math"/>
                          <a:cs typeface="Cambria Math"/>
                        </a:rPr>
                        <m:t> =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v₀²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>
                          <a:latin typeface="Cambria Math"/>
                          <a:cs typeface="Cambria Math"/>
                        </a:rPr>
                        <m:t> −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k</m:t>
                          </m:r>
                        </m:num>
                        <m:den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r₀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EQ_initialenergy">
                <a:extLst xmlns:a="http://schemas.openxmlformats.org/drawingml/2006/main">
                  <a:ext uri="{FF2B5EF4-FFF2-40B4-BE49-F238E27FC236}">
                    <a16:creationId xmlns:a16="http://schemas.microsoft.com/office/drawing/2014/main" id="{91D70EE6-5593-4AAC-9E39-DD12F76A30E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0" y="2619375"/>
                <a:ext cx="700087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E₀ = v₀²/2 − k/r₀</a:t>
                </a:r>
              </a:p>
            </p:txBody>
          </p:sp>
        </mc:Fallback>
      </mc:AlternateContent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BDE3C-687E-42A5-B860-336075C2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867900" cy="9525"/>
          </a:xfrm>
          <a:custGeom xmlns:a="http://schemas.openxmlformats.org/drawingml/2006/main">
            <a:pathLst>
              <a:path w="9867900" h="9525">
                <a:moveTo>
                  <a:pt x="0" y="0"/>
                </a:moveTo>
                <a:lnTo>
                  <a:pt x="986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10E69-70A8-4A37-B699-A9CFADC0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481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55EC4-E563-4416-9ABE-6F45C763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临界条件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3" name="EQ_threshold">
                <a:extLst xmlns:a="http://schemas.openxmlformats.org/drawingml/2006/main">
                  <a:ext uri="{FF2B5EF4-FFF2-40B4-BE49-F238E27FC236}">
                    <a16:creationId xmlns:a16="http://schemas.microsoft.com/office/drawing/2014/main" id="{42E8888A-2F47-41CF-B523-3209F5024F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0" y="3695700"/>
                <a:ext cx="700087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>
                          <a:latin typeface="Cambria Math"/>
                          <a:cs typeface="Cambria Math"/>
                        </a:rPr>
                        <m:t> = 0,     k = gr₀²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3" name="EQ_threshold">
                <a:extLst xmlns:a="http://schemas.openxmlformats.org/drawingml/2006/main">
                  <a:ext uri="{FF2B5EF4-FFF2-40B4-BE49-F238E27FC236}">
                    <a16:creationId xmlns:a16="http://schemas.microsoft.com/office/drawing/2014/main" id="{42E8888A-2F47-41CF-B523-3209F5024F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0" y="3695700"/>
                <a:ext cx="700087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E₀ = 0,      k = gr₀²</a:t>
                </a:r>
              </a:p>
            </p:txBody>
          </p:sp>
        </mc:Fallback>
      </mc:AlternateContent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FCDAC-77ED-4CCF-959E-7697A486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867900" cy="9525"/>
          </a:xfrm>
          <a:custGeom xmlns:a="http://schemas.openxmlformats.org/drawingml/2006/main">
            <a:pathLst>
              <a:path w="9867900" h="9525">
                <a:moveTo>
                  <a:pt x="0" y="0"/>
                </a:moveTo>
                <a:lnTo>
                  <a:pt x="986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BEF83-4E57-4A55-BD48-6D9CED82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C4544-E61B-41DC-A35D-B56F4424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逃逸速度 vₑ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7" name="EQ_escapespeed">
                <a:extLst xmlns:a="http://schemas.openxmlformats.org/drawingml/2006/main">
                  <a:ext uri="{FF2B5EF4-FFF2-40B4-BE49-F238E27FC236}">
                    <a16:creationId xmlns:a16="http://schemas.microsoft.com/office/drawing/2014/main" id="{2FBDA69C-DA0E-490D-B01F-AA6DA7023D9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0" y="4772025"/>
                <a:ext cx="700087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2550"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550">
                              <a:latin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a:rPr lang="en-US" sz="2550">
                          <a:latin typeface="Cambria Math"/>
                          <a:cs typeface="Cambria Math"/>
                        </a:rPr>
                        <m:t> = </m:t>
                      </m:r>
                      <m:rad>
                        <m:radPr>
                          <m:degHide m:val="1"/>
                        </m:radPr>
                        <m:deg/>
                        <m:e>
                          <m:r>
                            <a:rPr lang="en-US" sz="2550">
                              <a:latin typeface="Cambria Math"/>
                              <a:cs typeface="Cambria Math"/>
                            </a:rPr>
                            <m:t>2gr₀</m:t>
                          </m:r>
                        </m:e>
                      </m:rad>
                      <m:r>
                        <a:rPr lang="en-US" sz="2550">
                          <a:latin typeface="Cambria Math"/>
                          <a:cs typeface="Cambria Math"/>
                        </a:rPr>
                        <m:t> ≈ 11.2 km/s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EQ_escapespeed">
                <a:extLst xmlns:a="http://schemas.openxmlformats.org/drawingml/2006/main">
                  <a:ext uri="{FF2B5EF4-FFF2-40B4-BE49-F238E27FC236}">
                    <a16:creationId xmlns:a16="http://schemas.microsoft.com/office/drawing/2014/main" id="{2FBDA69C-DA0E-490D-B01F-AA6DA7023D9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95750" y="4772025"/>
                <a:ext cx="7000875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5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5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vₑ = √(2gr₀) ≈ 11.2 km/s</a:t>
                </a:r>
              </a:p>
            </p:txBody>
          </p:sp>
        </mc:Fallback>
      </mc:AlternateContent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7A696-9DBC-42F2-8CB3-AC215104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等号对应“可到任意远处，但远处速率趋于零”。</a:t>
            </a:r>
          </a:p>
        </p:txBody>
      </p:sp>
    </p:spTree>
    <p:extLst>
      <p:ext uri="{BB962C8B-B14F-4D97-AF65-F5344CB8AC3E}">
        <p14:creationId xmlns:p14="http://schemas.microsoft.com/office/powerpoint/2010/main" val="9266425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17E4C-E378-40E4-8626-4444C742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10833-FD6D-4E3F-A044-C840FFA0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课堂练习：先写势能，再求最小初速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A2617-B2BB-48E8-A5A6-C882695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CC089-6B99-479F-8BDB-C5ED70A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12, problem p012-1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B533F-A062-4667-B0B5-BE2CA5B3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22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AE9B9-A2EE-4420-936D-AFA895BB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95475"/>
            <a:ext cx="1077277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2F8F8"/>
          </a:solidFill>
          <a:ln xmlns:a="http://schemas.openxmlformats.org/drawingml/2006/main" w="0">
            <a:noFill/>
            <a:prstDash val="solid"/>
          </a:ln>
        </p:spPr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01A7FDE2-F81B-4AF4-B8EF-484581A1B8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66800" y="2219325"/>
                <a:ext cx="5048250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3375">
                          <a:latin typeface="Cambria Math"/>
                          <a:cs typeface="Cambria Math"/>
                        </a:rPr>
                        <m:t>r̈ = 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3375">
                              <a:latin typeface="Cambria Math"/>
                              <a:cs typeface="Cambria Math"/>
                            </a:rPr>
                            <m:t>gr₀²</m:t>
                          </m:r>
                        </m:num>
                        <m:den>
                          <m:r>
                            <a:rPr lang="en-US" sz="3375">
                              <a:latin typeface="Cambria Math"/>
                              <a:cs typeface="Cambria Math"/>
                            </a:rPr>
                            <m:t>r²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01A7FDE2-F81B-4AF4-B8EF-484581A1B8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66800" y="2219325"/>
                <a:ext cx="5048250" cy="7143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33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33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337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r̈ = −gr₀²/r²</a:t>
                </a:r>
              </a:p>
            </p:txBody>
          </p:sp>
        </mc:Fallback>
      </mc:AlternateContent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1D66D-EA7B-49AE-AD58-320733E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4905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263B53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63B53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63B53"/>
                </a:solidFill>
                <a:latin typeface="Cambria Math"/>
                <a:ea typeface="Cambria Math"/>
                <a:cs typeface="Cambria Math"/>
              </a:rPr>
              <a:t>r(0)=r₀,    ṙ(0)=v₀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1ACDE-7FC9-4E87-8D07-6139197A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7C17F-EB2A-4B6D-9C12-0C5DD606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8142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写出以 U(∞)=0 为约定的单位质量势能 U(r)。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0136B-D172-4CED-86C0-F94F61F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8A8E9-93E9-4CB0-A098-D758687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用守恒量判断石块能否达到任意远处。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37E9B-4B73-4909-A8B6-89A563EF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058C5-C60C-4353-AF4C-AADF4AC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482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求最小 v₀，并说明哪些实际作用没有进入模型。</a:t>
            </a:r>
          </a:p>
        </p:txBody>
      </p:sp>
    </p:spTree>
    <p:extLst>
      <p:ext uri="{BB962C8B-B14F-4D97-AF65-F5344CB8AC3E}">
        <p14:creationId xmlns:p14="http://schemas.microsoft.com/office/powerpoint/2010/main" val="19896368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1551E-194B-4D62-A4D8-07741FD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51F1D-0904-4120-B6A6-AF2AF110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练习解答：两次代入完成计算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D309E-8CE9-44B0-9FEF-0976A65F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89597-F8DA-48A7-8137-9B5176B9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12, answer to p012-1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CA1B4-B865-49F4-9313-EF9E464B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23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71F56-034E-4714-ABBF-6C5B8880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28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由方程积分得到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7" name="EQ_inverse-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2F1F1EB9-7A6D-4B7C-AEDA-CE4D7B64BA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38725" y="2000250"/>
                <a:ext cx="600075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2625">
                          <a:latin typeface="Cambria Math"/>
                          <a:cs typeface="Cambria Math"/>
                        </a:rPr>
                        <m:t>U(r) = 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gr₀²</m:t>
                          </m:r>
                        </m:num>
                        <m:den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EQ_inverse-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2F1F1EB9-7A6D-4B7C-AEDA-CE4D7B64BA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38725" y="2000250"/>
                <a:ext cx="600075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U(r)=−gr₀²/r</a:t>
                </a:r>
              </a:p>
            </p:txBody>
          </p:sp>
        </mc:Fallback>
      </mc:AlternateContent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24C1E-E124-40FF-B6C6-76B512A2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0"/>
            <a:ext cx="10591800" cy="9525"/>
          </a:xfrm>
          <a:custGeom xmlns:a="http://schemas.openxmlformats.org/drawingml/2006/main"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E5CEEA-04BF-4047-ACD4-83E4B6FD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623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写初始能量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0" name="EQ_initialenergy-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EC4422AD-F18B-468F-8359-9032BB6B7E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38725" y="3133725"/>
                <a:ext cx="600075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625">
                          <a:latin typeface="Cambria Math"/>
                          <a:cs typeface="Cambria Math"/>
                        </a:rPr>
                        <m:t> = 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v₀²</m:t>
                          </m:r>
                        </m:num>
                        <m:den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25">
                          <a:latin typeface="Cambria Math"/>
                          <a:cs typeface="Cambria Math"/>
                        </a:rPr>
                        <m:t> − gr₀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EQ_initialenergy-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EC4422AD-F18B-468F-8359-9032BB6B7E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38725" y="3133725"/>
                <a:ext cx="600075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E₀=v₀²/2−gr₀</a:t>
                </a:r>
              </a:p>
            </p:txBody>
          </p:sp>
        </mc:Fallback>
      </mc:AlternateContent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FA174-3517-48A0-BB0C-80CFC5D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86225"/>
            <a:ext cx="10591800" cy="9525"/>
          </a:xfrm>
          <a:custGeom xmlns:a="http://schemas.openxmlformats.org/drawingml/2006/main"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12034-0A45-4038-9DEC-061EA6CD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958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取临界值 E₀=0</a:t>
            </a:r>
          </a:p>
        </p:txBody>
      </p:sp>
      <mc:AlternateContent xmlns:mc="http://schemas.openxmlformats.org/markup-compatibility/2006">
        <mc:Choice xmlns:a="http://schemas.openxmlformats.org/drawingml/2006/main" xmlns:a14="http://schemas.microsoft.com/office/drawing/2010/main" Requires="a14">
          <p:sp>
            <p:nvSpPr>
              <p:cNvPr id="13" name="EQ_escapespeed-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769AC7D9-525C-49E9-BFAF-AED096DDB0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38725" y="4267200"/>
                <a:ext cx="600075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625">
                          <a:latin typeface="Cambria Math"/>
                          <a:cs typeface="Cambria Math"/>
                        </a:rPr>
                        <m:t> = </m:t>
                      </m:r>
                      <m:rad>
                        <m:radPr>
                          <m:degHide m:val="1"/>
                        </m:radPr>
                        <m:deg/>
                        <m:e>
                          <m:r>
                            <a:rPr lang="en-US" sz="2625">
                              <a:latin typeface="Cambria Math"/>
                              <a:cs typeface="Cambria Math"/>
                            </a:rPr>
                            <m:t>2gr₀</m:t>
                          </m:r>
                        </m:e>
                      </m:ra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3" name="EQ_escapespeed-exercise">
                <a:extLst xmlns:a="http://schemas.openxmlformats.org/drawingml/2006/main">
                  <a:ext uri="{FF2B5EF4-FFF2-40B4-BE49-F238E27FC236}">
                    <a16:creationId xmlns:a16="http://schemas.microsoft.com/office/drawing/2014/main" id="{769AC7D9-525C-49E9-BFAF-AED096DDB0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038725" y="4267200"/>
                <a:ext cx="600075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  <a:prstDash val="solid"/>
              </a:ln>
            </p:spPr>
            <p:txBody>
              <a:bodyPr xmlns:a="http://schemas.openxmlformats.org/drawingml/2006/main" lIns="0" tIns="0" rIns="0" bIns="0">
                <a:normAutofit fontScale="100000"/>
              </a:bodyPr>
              <a:lstStyle xmlns:a="http://schemas.openxmlformats.org/drawingml/2006/main">
                <a:def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defPPr>
              </a:lstStyle>
              <a:p xmlns:a="http://schemas.openxmlformats.org/drawingml/2006/main">
                <a:pPr algn="l">
                  <a:def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 b="0">
                    <a:solidFill>
                      <a:srgbClr val="235A9F"/>
                    </a:solidFill>
                    <a:latin typeface="Cambria Math"/>
                    <a:ea typeface="Cambria Math"/>
                    <a:cs typeface="Cambria Math"/>
                  </a:rPr>
                  <a:t>v₀=√(2gr₀)</a:t>
                </a:r>
              </a:p>
            </p:txBody>
          </p:sp>
        </mc:Fallback>
      </mc:AlternateContent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F0DB2-AD05-458B-B50C-7AA846C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705475"/>
            <a:ext cx="107346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C0810-CAD9-40A2-A3CA-78DA117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819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模型边界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DEA0A-F5A7-44DA-A5DD-EEC7D4DA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91200"/>
            <a:ext cx="875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结果只涉及地球理想引力场，不能直接当作“逃离太阳系”所需速度。</a:t>
            </a:r>
          </a:p>
        </p:txBody>
      </p:sp>
    </p:spTree>
    <p:extLst>
      <p:ext uri="{BB962C8B-B14F-4D97-AF65-F5344CB8AC3E}">
        <p14:creationId xmlns:p14="http://schemas.microsoft.com/office/powerpoint/2010/main" val="21386589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43A8B-48BC-4FA1-8E80-DAA7FEB2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D890A-E209-4844-ACDA-E29BA51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概念辨析：惯性系的“类”唯一吗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CE6F3-2C51-4967-91B0-46A4E5E3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4B1BC-B232-421B-94CB-3FD97BF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p. 11, problem p011-2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49090-6AE2-41AB-8393-DA9E25E2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24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ED4D0-466B-4B72-8411-C1D8FEA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原题答案是“不唯一”，但必须先说清比较标准。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86BB8-52F0-4B29-8164-D07CEDDF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50673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962A-3167-4734-8C79-677F36F2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051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固定 Galilei 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BEA04-0EDE-455D-BB55-1BC3E5DD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7550"/>
            <a:ext cx="4610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相容的惯性坐标系由保持时间差和同时距离的变换联系。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7DB6B-B3EF-42F2-A10E-497A917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50673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1BAD6-0370-4223-A7B7-7885F689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0512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改变约定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6C7D2-9189-42BA-9D2C-EF68594E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4610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改长度或时间单位、反选时间方向，已经在比较不同的描述约定。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18BA-E0DF-403D-B3C0-FEA3820B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讨论前先问：哪些结构已经固定？</a:t>
            </a:r>
          </a:p>
        </p:txBody>
      </p:sp>
    </p:spTree>
    <p:extLst>
      <p:ext uri="{BB962C8B-B14F-4D97-AF65-F5344CB8AC3E}">
        <p14:creationId xmlns:p14="http://schemas.microsoft.com/office/powerpoint/2010/main" val="899663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A0827-2B7A-40F6-AA40-A25C15AF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44BD-CE40-4ECA-AB87-F50E96FD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本章结论依赖一条清楚的前提链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6F9C3-8881-4DAF-A192-5F34629C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144BA-E621-46F1-AF25-B5029A6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3–14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DB1B4-6A48-4767-A735-3EBFADA6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25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49E7F-97AE-4262-A9E3-AFFC1637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4288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C55AB-CFE1-4BA8-B1DA-04F46A9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经验原理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21AFC-B842-45B1-ADCC-3DA39BD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20288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惯性系与初始状态的物理意义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1CA5B-5A92-4FD1-9766-4BE83387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09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8D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0DEC2-3BD4-43C5-BA41-82BAD0CF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4288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01BE4-9F43-4F87-B7CC-50CD39BD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575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数学结构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38CC4-224C-4366-AC04-53940D55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00425"/>
            <a:ext cx="20288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Galilei 变换与 Newton 初值问题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54564-52A0-4B12-96FB-A4D0ED72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09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8D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36EED-4442-4555-AD13-2DDA15F4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24288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81DBC-9C73-426D-94E9-A938FAD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C9FC3-13A6-4C75-BCF7-AEFD35C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0425"/>
            <a:ext cx="20288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对称性约束、势能与能量守恒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1891E-8CCF-4A70-AFC1-A884C878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09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38D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7D401-E561-471C-8F3C-3009E16E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33650"/>
            <a:ext cx="24288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F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93712-B29D-4EBD-938F-9543B35E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575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检验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F69FD-6516-4D98-9D8F-40CC8699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00425"/>
            <a:ext cx="20288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原题 p012-1 的逃逸速度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2C8A2-F7B1-4983-B644-99271FDF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245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课后检查：换一个参考系，哪些量变、哪些关系不变？</a:t>
            </a:r>
          </a:p>
        </p:txBody>
      </p:sp>
    </p:spTree>
    <p:extLst>
      <p:ext uri="{BB962C8B-B14F-4D97-AF65-F5344CB8AC3E}">
        <p14:creationId xmlns:p14="http://schemas.microsoft.com/office/powerpoint/2010/main" val="20731138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CAE8F-E742-43B0-9013-B74B2F5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35A9F"/>
                </a:solidFill>
                <a:latin typeface="PingFang SC"/>
                <a:ea typeface="PingFang SC"/>
                <a:cs typeface="PingFang SC"/>
              </a:rPr>
              <a:t>辛几何与数学物理  ·  第一章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34051-E7E1-40E4-8400-8FD215B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03B67"/>
                </a:solidFill>
                <a:latin typeface="PingFang SC"/>
                <a:ea typeface="PingFang SC"/>
                <a:cs typeface="PingFang SC"/>
              </a:rPr>
              <a:t>资料与出处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DE309-D29B-4CB3-B5C3-90D013EB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62816-4758-4515-89EC-AA090E85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Arnold pp. 3–14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40D30-CAE5-4EA1-B4DF-DD8CBDEF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4484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E92"/>
                </a:solidFill>
                <a:latin typeface="PingFang SC"/>
                <a:ea typeface="PingFang SC"/>
                <a:cs typeface="PingFang SC"/>
              </a:rPr>
              <a:t>26 /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D99C-7970-44CB-9E06-62CC0894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859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主教材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AC38C-6B43-4C8A-8AED-9360AC0B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71725"/>
            <a:ext cx="1042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V. I. Arnold, Mathematical Methods of Classical Mechanics, 2nd ed., Chapter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849A7-E491-4CB6-BE7D-52DE4E7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591800" cy="9525"/>
          </a:xfrm>
          <a:custGeom xmlns:a="http://schemas.openxmlformats.org/drawingml/2006/main"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83535-CEBA-43ED-A525-AD6220DE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052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课程资源包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1D06D-816F-4B93-A257-B9467E9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81475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本课程知识图谱、题库与用户提供的教材扫描页；图 3 引自资源包。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F83E-4E84-47EE-8705-7FE687C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10591800" cy="9525"/>
          </a:xfrm>
          <a:custGeom xmlns:a="http://schemas.openxmlformats.org/drawingml/2006/main">
            <a:pathLst>
              <a:path w="10591800" h="9525">
                <a:moveTo>
                  <a:pt x="0" y="0"/>
                </a:moveTo>
                <a:lnTo>
                  <a:pt x="1059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D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AA297-5179-4277-9693-354D8661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435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38D8C"/>
                </a:solidFill>
                <a:latin typeface="PingFang SC"/>
                <a:ea typeface="PingFang SC"/>
                <a:cs typeface="PingFang SC"/>
              </a:rPr>
              <a:t>教学组织参考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BFCDF-66F6-4E38-89B3-4A4CE78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19775"/>
            <a:ext cx="1042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63B53"/>
                </a:solidFill>
                <a:latin typeface="PingFang SC"/>
                <a:ea typeface="PingFang SC"/>
                <a:cs typeface="PingFang SC"/>
              </a:rPr>
              <a:t>MIT OpenCourseWare 的 Galilean transformation 与能量专题。</a:t>
            </a:r>
          </a:p>
        </p:txBody>
      </p:sp>
    </p:spTree>
    <p:extLst>
      <p:ext uri="{BB962C8B-B14F-4D97-AF65-F5344CB8AC3E}">
        <p14:creationId xmlns:p14="http://schemas.microsoft.com/office/powerpoint/2010/main" val="865324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2026-10-11T09:32:59.9990000Z</dcterms:created>
  <dcterms:modified xsi:type="dcterms:W3CDTF">2026-10-11T09:32:59.9990000Z</dcterms:modified>
</coreProperties>
</file>