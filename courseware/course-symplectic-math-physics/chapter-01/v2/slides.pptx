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a68f45a9e64a9b" /><Relationship Type="http://schemas.openxmlformats.org/officeDocument/2006/relationships/extended-properties" Target="/docProps/app.xml" Id="R4ed261e13963477b" /><Relationship Type="http://schemas.openxmlformats.org/officeDocument/2006/relationships/officeDocument" Target="/ppt/presentation.xml" Id="Rdfd22d886b6e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28a98336974d53"/>
  </p:sldMasterIdLst>
  <p:notesMasterIdLst>
    <p:notesMasterId xmlns:r="http://schemas.openxmlformats.org/officeDocument/2006/relationships" r:id="R10b26b26accf4a03"/>
  </p:notesMasterIdLst>
  <p:sldIdLst>
    <p:sldId xmlns:r="http://schemas.openxmlformats.org/officeDocument/2006/relationships" id="256" r:id="R78b0b7bbfa754264"/>
    <p:sldId xmlns:r="http://schemas.openxmlformats.org/officeDocument/2006/relationships" id="257" r:id="R45fae605db944504"/>
    <p:sldId xmlns:r="http://schemas.openxmlformats.org/officeDocument/2006/relationships" id="258" r:id="Ra18406dde5204b2e"/>
    <p:sldId xmlns:r="http://schemas.openxmlformats.org/officeDocument/2006/relationships" id="259" r:id="Re55c750de99940fc"/>
    <p:sldId xmlns:r="http://schemas.openxmlformats.org/officeDocument/2006/relationships" id="260" r:id="R2eb7947988504628"/>
    <p:sldId xmlns:r="http://schemas.openxmlformats.org/officeDocument/2006/relationships" id="261" r:id="R32f6a52c4c924ca6"/>
    <p:sldId xmlns:r="http://schemas.openxmlformats.org/officeDocument/2006/relationships" id="262" r:id="R323a153179fe4d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fdc915d9448d1" /><Relationship Type="http://schemas.openxmlformats.org/officeDocument/2006/relationships/slideMaster" Target="/ppt/slideMasters/slideMaster1.xml" Id="R7828a98336974d53" /><Relationship Type="http://schemas.openxmlformats.org/officeDocument/2006/relationships/notesMaster" Target="/ppt/notesMasters/notesMaster1.xml" Id="R10b26b26accf4a03" /><Relationship Type="http://schemas.openxmlformats.org/officeDocument/2006/relationships/presProps" Target="/ppt/presProps.xml" Id="R8e39769483734eb8" /><Relationship Type="http://schemas.openxmlformats.org/officeDocument/2006/relationships/tableStyles" Target="/ppt/tableStyles.xml" Id="R754e2cf9bedc4a57" /><Relationship Type="http://schemas.openxmlformats.org/officeDocument/2006/relationships/slide" Target="/ppt/slides/slide1.xml" Id="R78b0b7bbfa754264" /><Relationship Type="http://schemas.openxmlformats.org/officeDocument/2006/relationships/slide" Target="/ppt/slides/slide2.xml" Id="R45fae605db944504" /><Relationship Type="http://schemas.openxmlformats.org/officeDocument/2006/relationships/slide" Target="/ppt/slides/slide3.xml" Id="Ra18406dde5204b2e" /><Relationship Type="http://schemas.openxmlformats.org/officeDocument/2006/relationships/slide" Target="/ppt/slides/slide4.xml" Id="Re55c750de99940fc" /><Relationship Type="http://schemas.openxmlformats.org/officeDocument/2006/relationships/slide" Target="/ppt/slides/slide5.xml" Id="R2eb7947988504628" /><Relationship Type="http://schemas.openxmlformats.org/officeDocument/2006/relationships/slide" Target="/ppt/slides/slide6.xml" Id="R32f6a52c4c924ca6" /><Relationship Type="http://schemas.openxmlformats.org/officeDocument/2006/relationships/slide" Target="/ppt/slides/slide7.xml" Id="R323a153179fe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094ef7b8948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5d3c60d8894bb3" /><Relationship Type="http://schemas.openxmlformats.org/officeDocument/2006/relationships/notesMaster" Target="/ppt/notesMasters/notesMaster1.xml" Id="R9bbfb0ba8e87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6032835cc648c0" /><Relationship Type="http://schemas.openxmlformats.org/officeDocument/2006/relationships/notesMaster" Target="/ppt/notesMasters/notesMaster1.xml" Id="R4a2106889ea0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cb70b2fc848a8" /><Relationship Type="http://schemas.openxmlformats.org/officeDocument/2006/relationships/notesMaster" Target="/ppt/notesMasters/notesMaster1.xml" Id="Rfaba3812eff1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c4ccd7f564a40" /><Relationship Type="http://schemas.openxmlformats.org/officeDocument/2006/relationships/notesMaster" Target="/ppt/notesMasters/notesMaster1.xml" Id="Rcd8f1a9182474d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76e0a2a0244cb4" /><Relationship Type="http://schemas.openxmlformats.org/officeDocument/2006/relationships/notesMaster" Target="/ppt/notesMasters/notesMaster1.xml" Id="R9398891bebe24f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5830e7eef451d" /><Relationship Type="http://schemas.openxmlformats.org/officeDocument/2006/relationships/notesMaster" Target="/ppt/notesMasters/notesMaster1.xml" Id="Rdcb9015b2a7c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3b71846ca3420e" /><Relationship Type="http://schemas.openxmlformats.org/officeDocument/2006/relationships/notesMaster" Target="/ppt/notesMasters/notesMaster1.xml" Id="R85df43225315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课程内容来源：辛几何与数学物理课程资源包，知识点.md 第一章。封面摄影：Howchou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课程资源包：知识点.md#kp-ch01-galilean-structure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课程资源包：知识点.md#kp-ch01-kinematics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课程资源包：知识点.md#kp-ch01-newton-initial-value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课程资源包：知识点.md#kp-ch01-potential-models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a0a68a17b41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9528e4b8e44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7bc3937a04e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0241b0ef14e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4112436b948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99970be6f4a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34BF7-F285-4C10-96BD-61D37BCD2B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A8A34F-F0C9-42C2-BF3D-5779E4A057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9F5A96-70D5-4CD0-A82B-A31111D10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2AD47-F0C1-4D4A-A100-8C5167208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320E2A-C337-4E09-8DBC-3878F3454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EC014D-E1BD-4A60-A680-F446F9C3F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2CCC0D-4D82-450C-93CC-2F708E6DF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FD5814-285B-4AB1-9DAB-2FBC1E679C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9F999E-9838-4E0F-B975-868E711E7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51EF9B-9CC2-44FE-805B-243AAA65C2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a39ff7caec4f28" /><Relationship Type="http://schemas.openxmlformats.org/officeDocument/2006/relationships/slideLayout" Target="/ppt/slideLayouts/slideLayout1.xml" Id="Rc57a2b4f5fcb459b" /><Relationship Type="http://schemas.openxmlformats.org/officeDocument/2006/relationships/slideLayout" Target="/ppt/slideLayouts/slideLayout2.xml" Id="R9ebb168cb0ce4721" /><Relationship Type="http://schemas.openxmlformats.org/officeDocument/2006/relationships/slideLayout" Target="/ppt/slideLayouts/slideLayout3.xml" Id="Rbb7c1e17195f465e" /><Relationship Type="http://schemas.openxmlformats.org/officeDocument/2006/relationships/slideLayout" Target="/ppt/slideLayouts/slideLayout4.xml" Id="R1e403dff282641e6" /><Relationship Type="http://schemas.openxmlformats.org/officeDocument/2006/relationships/slideLayout" Target="/ppt/slideLayouts/slideLayout5.xml" Id="R60297066dbe64164" /><Relationship Type="http://schemas.openxmlformats.org/officeDocument/2006/relationships/slideLayout" Target="/ppt/slideLayouts/slideLayout6.xml" Id="R0c89b36beebe4c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7a2b4f5fcb459b"/>
    <p:sldLayoutId xmlns:r="http://schemas.openxmlformats.org/officeDocument/2006/relationships" id="2147483650" r:id="R9ebb168cb0ce4721"/>
    <p:sldLayoutId xmlns:r="http://schemas.openxmlformats.org/officeDocument/2006/relationships" id="2147483651" r:id="Rbb7c1e17195f465e"/>
    <p:sldLayoutId xmlns:r="http://schemas.openxmlformats.org/officeDocument/2006/relationships" id="2147483652" r:id="R1e403dff282641e6"/>
    <p:sldLayoutId xmlns:r="http://schemas.openxmlformats.org/officeDocument/2006/relationships" id="2147483653" r:id="R60297066dbe64164"/>
    <p:sldLayoutId xmlns:r="http://schemas.openxmlformats.org/officeDocument/2006/relationships" id="2147483654" r:id="R0c89b36beebe4c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4550eb1fa4621" /><Relationship Type="http://schemas.openxmlformats.org/officeDocument/2006/relationships/image" Target="/ppt/media/image.jpeg" Id="Ra6bdf220010846e0" /><Relationship Type="http://schemas.openxmlformats.org/officeDocument/2006/relationships/notesSlide" Target="/ppt/notesSlides/notesSlide1.xml" Id="R24e2e79727d5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e39e893cb4fb0" /><Relationship Type="http://schemas.openxmlformats.org/officeDocument/2006/relationships/notesSlide" Target="/ppt/notesSlides/notesSlide2.xml" Id="R3f575f3eb64146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13d83dcce4774" /><Relationship Type="http://schemas.openxmlformats.org/officeDocument/2006/relationships/notesSlide" Target="/ppt/notesSlides/notesSlide3.xml" Id="R15ecd9bcc5c949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ff321174b4188" /><Relationship Type="http://schemas.openxmlformats.org/officeDocument/2006/relationships/notesSlide" Target="/ppt/notesSlides/notesSlide4.xml" Id="R379613dae8e3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675a349a743a7" /><Relationship Type="http://schemas.openxmlformats.org/officeDocument/2006/relationships/notesSlide" Target="/ppt/notesSlides/notesSlide5.xml" Id="R6b113fd4b4724d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49bdccc83406a" /><Relationship Type="http://schemas.openxmlformats.org/officeDocument/2006/relationships/notesSlide" Target="/ppt/notesSlides/notesSlide6.xml" Id="R280c2348ff9349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d6bf979ec48d0" /><Relationship Type="http://schemas.openxmlformats.org/officeDocument/2006/relationships/notesSlide" Target="/ppt/notesSlides/notesSlide7.xml" Id="Re3ebdd13578744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110E6-AE7E-421E-AD67-A642E607D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df220010846e0"/>
          <a:srcRect xmlns:a="http://schemas.openxmlformats.org/drawingml/2006/main" l="26311" t="0" r="263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0"/>
            <a:ext cx="5029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253D5-2515-4E26-8CF8-BD9C68DD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74B6-BF2B-4929-B0A6-B1EB955C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09615-601C-4166-B42A-ECD4030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08ECE-84C8-4C51-81C8-D1033CB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8CCF6-AB61-4D16-91D7-86A18852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rPr>
              <a:t>武汉大学数学与统计学院 · 课程建设演示</a:t>
            </a:r>
          </a:p>
        </p:txBody>
      </p:sp>
    </p:spTree>
    <p:extLst>
      <p:ext uri="{BB962C8B-B14F-4D97-AF65-F5344CB8AC3E}">
        <p14:creationId xmlns:p14="http://schemas.microsoft.com/office/powerpoint/2010/main" val="1781619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82F2E-653D-46DE-B0AF-7E7613A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62DF-D974-4266-9AB1-03683D1C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相对性与确定性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DDD1-1891-4530-AA79-0B97DEF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7B05-73ED-484A-9851-ADF582CF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51943-354A-47FC-899E-7AB7422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相对惯性系作匀速直线运动的坐标系仍是惯性系。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AD16-B816-4CC5-B6D9-E8B133D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661D1-8FEE-45F7-95E1-54CFBAC8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位置与速度构成初值；运动方程应与这些初值相容。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3D67A-DD75-4CBB-BE53-5D1F8AB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51477-C584-4714-83C5-A101FA15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地球坐标系通常只是近似惯性系。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D19E2-AD79-42B5-839A-0C4583CD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02 / 07</a:t>
            </a:r>
          </a:p>
        </p:txBody>
      </p:sp>
    </p:spTree>
    <p:extLst>
      <p:ext uri="{BB962C8B-B14F-4D97-AF65-F5344CB8AC3E}">
        <p14:creationId xmlns:p14="http://schemas.microsoft.com/office/powerpoint/2010/main" val="1962772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C72BA-DEE1-4919-8239-15D4CC6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71B35-8A11-4E1D-B927-385AE4BE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时空结构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DD584-27A2-4D5E-93B3-D945EB0C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5247E-C86B-4604-AFEA-108D8B3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3397A-05B9-45E1-862E-B55F36E9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四维仿射空间 A⁴ 的平移空间为 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73FD9-F4E1-4838-ACE7-81A1CEC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AC38-9049-4811-A3D3-4DB6DCE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时间间隔由非零线性映射 τ:E→ℝ 给出。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ECE60-5C5B-44F6-84F7-58A90C0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524A-8273-40F7-B81A-50BB082B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ker τ 上的正定内积描述同时事件的空间距离。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8C98D-1C2B-4AE4-AAAD-D2857DA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9EAC7-688C-4B1A-BAFF-5B4F4BEB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t′ = t + s    x′ = Rx + vt +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A397C-81CA-4643-9EFE-279A103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03 / 07</a:t>
            </a:r>
          </a:p>
        </p:txBody>
      </p:sp>
    </p:spTree>
    <p:extLst>
      <p:ext uri="{BB962C8B-B14F-4D97-AF65-F5344CB8AC3E}">
        <p14:creationId xmlns:p14="http://schemas.microsoft.com/office/powerpoint/2010/main" val="1224314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C63A-C3DD-45C3-93ED-706BD42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62F57-C260-4CC3-BFAE-44D129C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运动、轨迹与世界线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1BFB5-186B-4E6A-BE8C-16AD6556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779DC-5D0C-4D83-B76E-4A167E0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7DAB2-662B-4391-85B3-1C67DC15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运动是光滑映射 x:I→ℝᴺ。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30591-792F-4719-8BC6-EA1467C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510AC-8C86-48B7-8B06-1C290A7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轨迹是 x(I)，世界线是时空图像 (t, x(t))。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BB1A1-A3F3-4B2D-AE69-3D0FA115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5F1FA-8EB9-43B6-9A2E-72E0925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轨迹的形状不能单独决定运动是否光滑。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270BA-5703-404E-826D-318571CE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04 / 07</a:t>
            </a:r>
          </a:p>
        </p:txBody>
      </p:sp>
    </p:spTree>
    <p:extLst>
      <p:ext uri="{BB962C8B-B14F-4D97-AF65-F5344CB8AC3E}">
        <p14:creationId xmlns:p14="http://schemas.microsoft.com/office/powerpoint/2010/main" val="416389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D1564-74B8-43AC-B0FD-68DE2229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484FB-5938-4365-8EF1-FD1AE305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Newton 方程与局部唯一性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235F2-1016-4A20-AE08-8FDF0E2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63779-55C4-4382-96B9-6974D07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7F74-CF5C-49A8-8413-8D384B6B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将二阶方程改写为位置与速度的一阶系统。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1E75A-7EFA-428C-91C0-87F5CFCD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225B6-C32D-40A5-91DE-CB204A70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合适的连续性与局部 Lipschitz 条件给出局部唯一解。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965A3-F359-4B69-B460-4321853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814B8-78AA-478D-9436-0B6CD59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全时间存在还须排除碰撞、逃逸等问题。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8B31E-A132-46CA-8FB3-4E1ADF8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35DC1-79A2-42D5-81B4-2A62F915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ẋ = v    v̇ = F(x, v, 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2F6D0-5E4A-4018-9157-943C3747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05 / 07</a:t>
            </a:r>
          </a:p>
        </p:txBody>
      </p:sp>
    </p:spTree>
    <p:extLst>
      <p:ext uri="{BB962C8B-B14F-4D97-AF65-F5344CB8AC3E}">
        <p14:creationId xmlns:p14="http://schemas.microsoft.com/office/powerpoint/2010/main" val="96683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9F735-385E-4909-9918-F896F18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851F-F0DB-4237-A62E-A605D1F4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保守质点系统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19523-41AB-45B1-BB78-5D1EEEB4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E1380-C017-40BA-8E03-7378B012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FC9AE-84F8-4539-BCA1-916DC2E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势能 U 决定保守力：mᵢẍᵢ = −∇ₓᵢU。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31C19-312C-4AB1-99B9-8A6B9812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979F3-333D-498B-B85B-4DE1AE1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势能加常数不改变运动。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B7327-B192-4524-B949-92CA33A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0362C-38A7-473F-B10C-29BAC3C6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碰撞点可能不在方程的光滑定义域内。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29D6F-3149-4919-8814-6ADAB185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06 / 07</a:t>
            </a:r>
          </a:p>
        </p:txBody>
      </p:sp>
    </p:spTree>
    <p:extLst>
      <p:ext uri="{BB962C8B-B14F-4D97-AF65-F5344CB8AC3E}">
        <p14:creationId xmlns:p14="http://schemas.microsoft.com/office/powerpoint/2010/main" val="1482347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8C185-5EE5-4AB1-9755-869A34C2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B693E-2A87-44C7-853A-2C594856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逃逸速度的能量判据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80DB1-8A3C-415F-8301-2C8F2878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8CC45-E5BA-473A-B1CF-90F85D0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8AD8B-C28D-4414-AEBF-B9574EA8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单位质量势能 U(r)=−gr₀²/r。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C467C-1083-4484-B3F3-A2389B7F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F045-34F1-4FB6-BF4A-22210EF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起点总能量 E=½v₀²−gr₀；临界逃逸时 E=0。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B4714-731E-452A-93B0-1F779A0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1220A-D58E-434B-8AEF-201E510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v₀ ≥ √(2gr₀)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4E002-0DEA-451D-9A68-3D6605B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V2  ·  07 / 07</a:t>
            </a:r>
          </a:p>
        </p:txBody>
      </p:sp>
    </p:spTree>
    <p:extLst>
      <p:ext uri="{BB962C8B-B14F-4D97-AF65-F5344CB8AC3E}">
        <p14:creationId xmlns:p14="http://schemas.microsoft.com/office/powerpoint/2010/main" val="146729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2026-10-11T08:27:59.0320000Z</dcterms:created>
  <dcterms:modified xsi:type="dcterms:W3CDTF">2026-10-11T08:27:59.0320000Z</dcterms:modified>
</coreProperties>
</file>